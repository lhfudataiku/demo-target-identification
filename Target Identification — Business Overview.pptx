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dba249c33146ed" /><Relationship Type="http://schemas.openxmlformats.org/officeDocument/2006/relationships/extended-properties" Target="/docProps/app.xml" Id="R842845ba07ed4f0a" /><Relationship Type="http://schemas.openxmlformats.org/officeDocument/2006/relationships/officeDocument" Target="/ppt/presentation.xml" Id="R64fec02d0846449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853e93c8f324851"/>
  </p:sldMasterIdLst>
  <p:notesMasterIdLst>
    <p:notesMasterId xmlns:r="http://schemas.openxmlformats.org/officeDocument/2006/relationships" r:id="R34b726913b1a440f"/>
  </p:notesMasterIdLst>
  <p:sldIdLst>
    <p:sldId xmlns:r="http://schemas.openxmlformats.org/officeDocument/2006/relationships" id="256" r:id="Ra61aa6b0249844cf"/>
    <p:sldId xmlns:r="http://schemas.openxmlformats.org/officeDocument/2006/relationships" id="257" r:id="R55871c53fa284f5c"/>
  </p:sldIdLst>
  <p:sldSz cx="9144000" cy="5143500"/>
  <p:notesSz cx="6858000" cy="9144000"/>
  <p:embeddedFontLst>
    <p:embeddedFont>
      <p:font typeface="Roboto Mono Medium"/>
      <p:regular xmlns:r="http://schemas.openxmlformats.org/officeDocument/2006/relationships" r:id="R99185dc58bd74c2d"/>
      <p:bold xmlns:r="http://schemas.openxmlformats.org/officeDocument/2006/relationships" r:id="R6165e5acc8c44ed6"/>
      <p:italic xmlns:r="http://schemas.openxmlformats.org/officeDocument/2006/relationships" r:id="Rb78bc7fa34cc4717"/>
      <p:boldItalic xmlns:r="http://schemas.openxmlformats.org/officeDocument/2006/relationships" r:id="Rdd1e2fbb96164aec"/>
    </p:embeddedFont>
    <p:embeddedFont>
      <p:font typeface="Roboto"/>
      <p:regular xmlns:r="http://schemas.openxmlformats.org/officeDocument/2006/relationships" r:id="R9f8d2889e58841ac"/>
      <p:bold xmlns:r="http://schemas.openxmlformats.org/officeDocument/2006/relationships" r:id="Rd82b43ce8fac4fb9"/>
      <p:italic xmlns:r="http://schemas.openxmlformats.org/officeDocument/2006/relationships" r:id="Rd6d1a0a431dd4009"/>
      <p:boldItalic xmlns:r="http://schemas.openxmlformats.org/officeDocument/2006/relationships" r:id="R31dcf6541c0d45cb"/>
    </p:embeddedFont>
    <p:embeddedFont>
      <p:font typeface="Roboto Condensed"/>
      <p:regular xmlns:r="http://schemas.openxmlformats.org/officeDocument/2006/relationships" r:id="R1421d219fa2d4850"/>
      <p:bold xmlns:r="http://schemas.openxmlformats.org/officeDocument/2006/relationships" r:id="R004253af4338482b"/>
      <p:italic xmlns:r="http://schemas.openxmlformats.org/officeDocument/2006/relationships" r:id="R9c525bd9b49740a6"/>
      <p:boldItalic xmlns:r="http://schemas.openxmlformats.org/officeDocument/2006/relationships" r:id="R80f3f078dc3f4f47"/>
    </p:embeddedFont>
    <p:embeddedFont>
      <p:font typeface="Spectral"/>
      <p:regular xmlns:r="http://schemas.openxmlformats.org/officeDocument/2006/relationships" r:id="R71ff49e6115341dd"/>
      <p:bold xmlns:r="http://schemas.openxmlformats.org/officeDocument/2006/relationships" r:id="Rcbc93c2cd6b14809"/>
      <p:italic xmlns:r="http://schemas.openxmlformats.org/officeDocument/2006/relationships" r:id="Rdeab6a3a8d764a17"/>
      <p:boldItalic xmlns:r="http://schemas.openxmlformats.org/officeDocument/2006/relationships" r:id="Rad9f1f18b2b5477b"/>
    </p:embeddedFont>
    <p:embeddedFont>
      <p:font typeface="Roboto Light"/>
      <p:regular xmlns:r="http://schemas.openxmlformats.org/officeDocument/2006/relationships" r:id="R381ec50107b04132"/>
      <p:bold xmlns:r="http://schemas.openxmlformats.org/officeDocument/2006/relationships" r:id="R80b41813a6b24a78"/>
      <p:italic xmlns:r="http://schemas.openxmlformats.org/officeDocument/2006/relationships" r:id="R814355822f254d6b"/>
      <p:boldItalic xmlns:r="http://schemas.openxmlformats.org/officeDocument/2006/relationships" r:id="R14abebe8b663408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6ccd9f367b44d2" /><Relationship Type="http://schemas.openxmlformats.org/officeDocument/2006/relationships/slideMaster" Target="/ppt/slideMasters/slideMaster1.xml" Id="R4853e93c8f324851" /><Relationship Type="http://schemas.openxmlformats.org/officeDocument/2006/relationships/notesMaster" Target="/ppt/notesMasters/notesMaster1.xml" Id="R34b726913b1a440f" /><Relationship Type="http://schemas.openxmlformats.org/officeDocument/2006/relationships/presProps" Target="/ppt/presProps.xml" Id="Ra4601bb9951e41a2" /><Relationship Type="http://schemas.openxmlformats.org/officeDocument/2006/relationships/tableStyles" Target="/ppt/tableStyles.xml" Id="R50d886d64e724f31" /><Relationship Type="http://schemas.openxmlformats.org/officeDocument/2006/relationships/font" Target="/ppt/fonts/font.dat" Id="R99185dc58bd74c2d" /><Relationship Type="http://schemas.openxmlformats.org/officeDocument/2006/relationships/font" Target="/ppt/fonts/font2.dat" Id="R6165e5acc8c44ed6" /><Relationship Type="http://schemas.openxmlformats.org/officeDocument/2006/relationships/font" Target="/ppt/fonts/font3.dat" Id="Rb78bc7fa34cc4717" /><Relationship Type="http://schemas.openxmlformats.org/officeDocument/2006/relationships/font" Target="/ppt/fonts/font4.dat" Id="Rdd1e2fbb96164aec" /><Relationship Type="http://schemas.openxmlformats.org/officeDocument/2006/relationships/font" Target="/ppt/fonts/font5.dat" Id="R9f8d2889e58841ac" /><Relationship Type="http://schemas.openxmlformats.org/officeDocument/2006/relationships/font" Target="/ppt/fonts/font6.dat" Id="Rd82b43ce8fac4fb9" /><Relationship Type="http://schemas.openxmlformats.org/officeDocument/2006/relationships/font" Target="/ppt/fonts/font7.dat" Id="Rd6d1a0a431dd4009" /><Relationship Type="http://schemas.openxmlformats.org/officeDocument/2006/relationships/font" Target="/ppt/fonts/font8.dat" Id="R31dcf6541c0d45cb" /><Relationship Type="http://schemas.openxmlformats.org/officeDocument/2006/relationships/font" Target="/ppt/fonts/font9.dat" Id="R1421d219fa2d4850" /><Relationship Type="http://schemas.openxmlformats.org/officeDocument/2006/relationships/font" Target="/ppt/fonts/font10.dat" Id="R004253af4338482b" /><Relationship Type="http://schemas.openxmlformats.org/officeDocument/2006/relationships/font" Target="/ppt/fonts/font11.dat" Id="R9c525bd9b49740a6" /><Relationship Type="http://schemas.openxmlformats.org/officeDocument/2006/relationships/font" Target="/ppt/fonts/font12.dat" Id="R80f3f078dc3f4f47" /><Relationship Type="http://schemas.openxmlformats.org/officeDocument/2006/relationships/font" Target="/ppt/fonts/font13.dat" Id="R71ff49e6115341dd" /><Relationship Type="http://schemas.openxmlformats.org/officeDocument/2006/relationships/font" Target="/ppt/fonts/font14.dat" Id="Rcbc93c2cd6b14809" /><Relationship Type="http://schemas.openxmlformats.org/officeDocument/2006/relationships/font" Target="/ppt/fonts/font15.dat" Id="Rdeab6a3a8d764a17" /><Relationship Type="http://schemas.openxmlformats.org/officeDocument/2006/relationships/font" Target="/ppt/fonts/font16.dat" Id="Rad9f1f18b2b5477b" /><Relationship Type="http://schemas.openxmlformats.org/officeDocument/2006/relationships/font" Target="/ppt/fonts/font17.dat" Id="R381ec50107b04132" /><Relationship Type="http://schemas.openxmlformats.org/officeDocument/2006/relationships/font" Target="/ppt/fonts/font18.dat" Id="R80b41813a6b24a78" /><Relationship Type="http://schemas.openxmlformats.org/officeDocument/2006/relationships/font" Target="/ppt/fonts/font19.dat" Id="R814355822f254d6b" /><Relationship Type="http://schemas.openxmlformats.org/officeDocument/2006/relationships/font" Target="/ppt/fonts/font20.dat" Id="R14abebe8b663408e" /><Relationship Type="http://schemas.openxmlformats.org/officeDocument/2006/relationships/slide" Target="/ppt/slides/slide1.xml" Id="Ra61aa6b0249844cf" /><Relationship Type="http://schemas.openxmlformats.org/officeDocument/2006/relationships/slide" Target="/ppt/slides/slide2.xml" Id="R55871c53fa284f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aa8525c94441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ataiku Company Template 2026">
  <a:themeElements>
    <a:clrScheme name="Simple Light">
      <a:dk1>
        <a:srgbClr val="1A1A1A"/>
      </a:dk1>
      <a:lt1>
        <a:srgbClr val="FFFFFF"/>
      </a:lt1>
      <a:dk2>
        <a:srgbClr val="3EDAB2"/>
      </a:dk2>
      <a:lt2>
        <a:srgbClr val="06312E"/>
      </a:lt2>
      <a:accent1>
        <a:srgbClr val="F8F4E4"/>
      </a:accent1>
      <a:accent2>
        <a:srgbClr val="C7FFF1"/>
      </a:accent2>
      <a:accent3>
        <a:srgbClr val="7092F2"/>
      </a:accent3>
      <a:accent4>
        <a:srgbClr val="EDAB4F"/>
      </a:accent4>
      <a:accent5>
        <a:srgbClr val="C6D4FA"/>
      </a:accent5>
      <a:accent6>
        <a:srgbClr val="F8DDB9"/>
      </a:accent6>
      <a:hlink>
        <a:srgbClr val="3EDA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6e03f157b24184" /><Relationship Type="http://schemas.openxmlformats.org/officeDocument/2006/relationships/notesMaster" Target="/ppt/notesMasters/notesMaster1.xml" Id="R588182ac5c2a46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d51b3921604a68" /><Relationship Type="http://schemas.openxmlformats.org/officeDocument/2006/relationships/notesMaster" Target="/ppt/notesMasters/notesMaster1.xml" Id="Re27ffc4c4fed4d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[Sources]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- docs/overview/PROJECT_CONTEXT.md §1, §4.1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- docs/graph/GRAPH_BUILDING.md §7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Business framing: the graph is a governed, queryable evidence foundation—not an end in itself.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[Sources]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- docs/overview/PROJECT_CONTEXT.md §4.2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- docs/demo/DEMO_NARRATIVE.md, one-page version and Q1–Q5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- .index/models.tsv (champion m7-f14)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The 0.823 figure is macro per-disease AUC; it is not a pooled metric. The slide intentionally does not claim a safety capability.</a:t>
            </a:r>
            <a:endParaRPr sz="10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659544446a4dab" /><Relationship Type="http://schemas.openxmlformats.org/officeDocument/2006/relationships/image" Target="/ppt/media/image.png" Id="R0e21776c0fd041b5" /><Relationship Type="http://schemas.openxmlformats.org/officeDocument/2006/relationships/image" Target="/ppt/media/image2.png" Id="Rc68c0c206e9043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8177da625543c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17483a4c8a4d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e13aa331e14f8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7a8c1f081f4ef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22ffb784714ecc" /><Relationship Type="http://schemas.openxmlformats.org/officeDocument/2006/relationships/image" Target="/ppt/media/image.png" Id="Rb002c3a0a2dc4f6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f41a4ba7c0490c" /><Relationship Type="http://schemas.openxmlformats.org/officeDocument/2006/relationships/image" Target="/ppt/media/image3.png" Id="Rb48dc663a4064c46" /><Relationship Type="http://schemas.openxmlformats.org/officeDocument/2006/relationships/image" Target="/ppt/media/image4.png" Id="R987a477b795d4d4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cb570885cd47a3" /><Relationship Type="http://schemas.openxmlformats.org/officeDocument/2006/relationships/image" Target="/ppt/media/image.png" Id="R2feeed8b6ce949a6" /><Relationship Type="http://schemas.openxmlformats.org/officeDocument/2006/relationships/image" Target="/ppt/media/image2.png" Id="Rc0bbc17c8a6c4ab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5785c75ba046dc" /><Relationship Type="http://schemas.openxmlformats.org/officeDocument/2006/relationships/image" Target="/ppt/media/image3.png" Id="R213fc529e6e64071" /><Relationship Type="http://schemas.openxmlformats.org/officeDocument/2006/relationships/image" Target="/ppt/media/image4.png" Id="R4fd939874b7b457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197c5962d4335" /><Relationship Type="http://schemas.openxmlformats.org/officeDocument/2006/relationships/image" Target="/ppt/media/image5.png" Id="R143baa52b063417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d20af7e8464a7b" /><Relationship Type="http://schemas.openxmlformats.org/officeDocument/2006/relationships/image" Target="/ppt/media/image6.png" Id="R6ffe15e2e8704ff9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1455c017bc4209" /><Relationship Type="http://schemas.openxmlformats.org/officeDocument/2006/relationships/image" Target="/ppt/media/image5.png" Id="R43a5ef35b870486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394cd1b6084b96" /><Relationship Type="http://schemas.openxmlformats.org/officeDocument/2006/relationships/image" Target="/ppt/media/image6.png" Id="R8013e3c0d0a34b0e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0a14a1f72540aa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93501fbb014d1d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026a7e94e542f8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8d6aba4447492b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9c704d3b33449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bcb4e7e3084c27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679b14969349a9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d8cf4083f4497e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26c667659d4907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45d7680d6b405b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dfe263c91e4ffb" /><Relationship Type="http://schemas.openxmlformats.org/officeDocument/2006/relationships/image" Target="/ppt/media/image.png" Id="Re1a8ba1156294ca6" /><Relationship Type="http://schemas.openxmlformats.org/officeDocument/2006/relationships/image" Target="/ppt/media/image7.png" Id="R4326a4ae30254932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44c5ec5cc74734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5da17efca046ef" /></Relationships>
</file>

<file path=ppt/slideLayouts/slideLayout1.xml><?xml version="1.0" encoding="utf-8"?>
<p:sldLayout xmlns:p="http://schemas.openxmlformats.org/presentationml/2006/main" matchingName="2 - Prez Cover">
  <p:cSld name="CUSTOM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3BEF0FE2-FD1A-4346-AEBD-3338714B4D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763901"/>
            <a:ext cx="6506100" cy="183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424AD6CA-B151-4BAB-BC8A-4B0F17391E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0000" y="2785907"/>
            <a:ext cx="6506100" cy="5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736BC6B1-5906-4A22-854E-690A7909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rgbClr val="FFFFFF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7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21776c0fd041b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0000" y="291600"/>
            <a:ext cx="1024799" cy="21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cxnSp>
        <p:nvCxnSpPr>
          <p:cNvPr id="28" name="Google Shape;14;p2"/>
          <p:cNvCxnSpPr/>
          <p:nvPr/>
        </p:nvCxnSpPr>
        <p:spPr>
          <a:xfrm xmlns:a="http://schemas.openxmlformats.org/drawingml/2006/main">
            <a:off x="172800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9" name="Google Shape;15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8c0c206e9043eb">
            <a:alphaModFix/>
          </a:blip>
          <a:srcRect xmlns:a="http://schemas.openxmlformats.org/drawingml/2006/main" l="0" t="1980" r="16318" b="12286"/>
          <a:stretch xmlns:a="http://schemas.openxmlformats.org/drawingml/2006/main"/>
        </p:blipFill>
        <p:spPr>
          <a:xfrm xmlns:a="http://schemas.openxmlformats.org/drawingml/2006/main">
            <a:off x="6722975" y="2663025"/>
            <a:ext cx="2421023" cy="24804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4 - Side_Dark">
  <p:cSld name="CUSTOM_3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99BD2B8B-0E92-498E-88C1-41CD6E2ABE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1059600"/>
            <a:ext cx="3604200" cy="30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 xmlns:a="http://schemas.openxmlformats.org/drawingml/2006/main"/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EDBE7E3A-7FB2-4C34-9126-9F8B2316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4 - Basic_Light">
  <p:cSld name="CUSTOM_5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Google Shape;20;p4">
            <a:extLst xmlns:a="http://schemas.openxmlformats.org/drawingml/2006/main">
              <a:ext uri="{FF2B5EF4-FFF2-40B4-BE49-F238E27FC236}">
                <a16:creationId xmlns:a16="http://schemas.microsoft.com/office/drawing/2014/main" id="{59FEB28F-674B-451C-AB83-F0D6B541C6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229125"/>
            <a:ext cx="83367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21" name="Google Shape;21;p4">
            <a:extLst xmlns:a="http://schemas.openxmlformats.org/drawingml/2006/main">
              <a:ext uri="{FF2B5EF4-FFF2-40B4-BE49-F238E27FC236}">
                <a16:creationId xmlns:a16="http://schemas.microsoft.com/office/drawing/2014/main" id="{4E5092BC-1828-4092-A223-C94077F422E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0000" y="648525"/>
            <a:ext cx="8336700" cy="2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 matchingName="0 - Blank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5.xml><?xml version="1.0" encoding="utf-8"?>
<p:sldLayout xmlns:p="http://schemas.openxmlformats.org/presentationml/2006/main" matchingName="0 - Blank_Dark">
  <p:cSld name="TITLE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Google Shape;24;p6">
            <a:extLst xmlns:a="http://schemas.openxmlformats.org/drawingml/2006/main">
              <a:ext uri="{FF2B5EF4-FFF2-40B4-BE49-F238E27FC236}">
                <a16:creationId xmlns:a16="http://schemas.microsoft.com/office/drawing/2014/main" id="{4C235E46-BB58-40A1-943E-57545F72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1 - Logo Intro">
  <p:cSld name="CUSTOM_7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7" name="Google Shape;26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02c3a0a2dc4f6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033899" y="2272575"/>
            <a:ext cx="2778501" cy="598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7" name="Google Shape;27;p7">
            <a:extLst xmlns:a="http://schemas.openxmlformats.org/drawingml/2006/main">
              <a:ext uri="{FF2B5EF4-FFF2-40B4-BE49-F238E27FC236}">
                <a16:creationId xmlns:a16="http://schemas.microsoft.com/office/drawing/2014/main" id="{551CDE4C-35F0-46CE-A1DB-668F88F5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796" y="4838824"/>
            <a:ext cx="9207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sz="800" b="0" i="0" u="none" cap="none">
                <a:solidFill>
                  <a:srgbClr val="9DAEAD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800" b="0" i="0" u="none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8" name="Google Shape;28;p7">
            <a:extLst xmlns:a="http://schemas.openxmlformats.org/drawingml/2006/main">
              <a:ext uri="{FF2B5EF4-FFF2-40B4-BE49-F238E27FC236}">
                <a16:creationId xmlns:a16="http://schemas.microsoft.com/office/drawing/2014/main" id="{8E7EB13E-1ACF-4AA1-980C-D748E6D6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839" y="4838824"/>
            <a:ext cx="7296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dataiku.com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50" name="Google Shape;29;p7"/>
          <p:cNvCxnSpPr/>
          <p:nvPr/>
        </p:nvCxnSpPr>
        <p:spPr>
          <a:xfrm xmlns:a="http://schemas.openxmlformats.org/drawingml/2006/main">
            <a:off x="2973168" y="4844524"/>
            <a:ext cx="0" cy="1116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D4BFEEB9-CEA3-44A6-B4A4-AB0E48AB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782" y="4838824"/>
            <a:ext cx="11985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9DAEAD"/>
                </a:solidFill>
                <a:latin typeface="Roboto"/>
                <a:ea typeface="Roboto"/>
                <a:cs typeface="Roboto"/>
              </a:rPr>
              <a:t>contact@dataiku.com</a:t>
            </a:r>
            <a:endParaRPr sz="800" b="0" i="0" u="none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52" name="Google Shape;31;p7"/>
          <p:cNvCxnSpPr/>
          <p:nvPr/>
        </p:nvCxnSpPr>
        <p:spPr>
          <a:xfrm xmlns:a="http://schemas.openxmlformats.org/drawingml/2006/main">
            <a:off x="3822111" y="4844524"/>
            <a:ext cx="0" cy="1116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3" name="Google Shape;32;p7"/>
          <p:cNvCxnSpPr/>
          <p:nvPr/>
        </p:nvCxnSpPr>
        <p:spPr>
          <a:xfrm xmlns:a="http://schemas.openxmlformats.org/drawingml/2006/main">
            <a:off x="5139954" y="4844524"/>
            <a:ext cx="0" cy="1116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" name="Google Shape;33;p7">
            <a:extLst xmlns:a="http://schemas.openxmlformats.org/drawingml/2006/main">
              <a:ext uri="{FF2B5EF4-FFF2-40B4-BE49-F238E27FC236}">
                <a16:creationId xmlns:a16="http://schemas.microsoft.com/office/drawing/2014/main" id="{880114F4-067E-45A7-A326-5475C4DF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9626" y="4838825"/>
            <a:ext cx="2535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X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34" name="Google Shape;34;p7">
            <a:extLst xmlns:a="http://schemas.openxmlformats.org/drawingml/2006/main">
              <a:ext uri="{FF2B5EF4-FFF2-40B4-BE49-F238E27FC236}">
                <a16:creationId xmlns:a16="http://schemas.microsoft.com/office/drawing/2014/main" id="{A4CA8CA8-1944-4C07-B319-8C9723FC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8824" y="4838825"/>
            <a:ext cx="5373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LinkedIn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35" name="Google Shape;35;p7">
            <a:extLst xmlns:a="http://schemas.openxmlformats.org/drawingml/2006/main">
              <a:ext uri="{FF2B5EF4-FFF2-40B4-BE49-F238E27FC236}">
                <a16:creationId xmlns:a16="http://schemas.microsoft.com/office/drawing/2014/main" id="{21811DCF-EE81-4A33-A5C1-85FE60AF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421" y="4838825"/>
            <a:ext cx="5373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Youtube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36" name="Google Shape;36;p7">
            <a:extLst xmlns:a="http://schemas.openxmlformats.org/drawingml/2006/main">
              <a:ext uri="{FF2B5EF4-FFF2-40B4-BE49-F238E27FC236}">
                <a16:creationId xmlns:a16="http://schemas.microsoft.com/office/drawing/2014/main" id="{D00B8B51-AE7D-49CE-BECA-9AE03E83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4018" y="4838825"/>
            <a:ext cx="5373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Facebook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37" name="Google Shape;37;p7">
            <a:extLst xmlns:a="http://schemas.openxmlformats.org/drawingml/2006/main">
              <a:ext uri="{FF2B5EF4-FFF2-40B4-BE49-F238E27FC236}">
                <a16:creationId xmlns:a16="http://schemas.microsoft.com/office/drawing/2014/main" id="{C09DABFD-5CA2-4D2C-ACE7-87DAFDCA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850" y="4701875"/>
            <a:ext cx="1134600" cy="35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12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2 - Prez Cover_Light">
  <p:cSld name="CUSTOM_8">
    <p:bg>
      <p:bgPr>
        <a:solidFill xmlns:a="http://schemas.openxmlformats.org/drawingml/2006/main">
          <a:srgbClr val="FEFE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Google Shape;39;p8">
            <a:extLst xmlns:a="http://schemas.openxmlformats.org/drawingml/2006/main">
              <a:ext uri="{FF2B5EF4-FFF2-40B4-BE49-F238E27FC236}">
                <a16:creationId xmlns:a16="http://schemas.microsoft.com/office/drawing/2014/main" id="{02C2E863-8637-43FC-98B6-52AD61D6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8300" y="0"/>
            <a:ext cx="21657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54" name="Google Shape;40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8dc663a4064c4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0000" y="291600"/>
            <a:ext cx="1024799" cy="21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1" name="Google Shape;41;p8">
            <a:extLst xmlns:a="http://schemas.openxmlformats.org/drawingml/2006/main">
              <a:ext uri="{FF2B5EF4-FFF2-40B4-BE49-F238E27FC236}">
                <a16:creationId xmlns:a16="http://schemas.microsoft.com/office/drawing/2014/main" id="{D5F92D72-5B1C-4186-88AC-DC0627C1C5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763901"/>
            <a:ext cx="6506100" cy="183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9pPr>
          </a:lstStyle>
          <a:p xmlns:a="http://schemas.openxmlformats.org/drawingml/2006/main"/>
        </p:txBody>
      </p:sp>
      <p:sp>
        <p:nvSpPr>
          <p:cNvPr id="42" name="Google Shape;42;p8">
            <a:extLst xmlns:a="http://schemas.openxmlformats.org/drawingml/2006/main">
              <a:ext uri="{FF2B5EF4-FFF2-40B4-BE49-F238E27FC236}">
                <a16:creationId xmlns:a16="http://schemas.microsoft.com/office/drawing/2014/main" id="{0938B2B6-8F88-414A-AF47-F2338190233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0000" y="2785907"/>
            <a:ext cx="6506100" cy="5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cxnSp>
        <p:nvCxnSpPr>
          <p:cNvPr id="57" name="Google Shape;43;p8"/>
          <p:cNvCxnSpPr/>
          <p:nvPr/>
        </p:nvCxnSpPr>
        <p:spPr>
          <a:xfrm xmlns:a="http://schemas.openxmlformats.org/drawingml/2006/main">
            <a:off x="172800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8" name="Google Shape;44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7a477b795d4d4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12462" y="1568661"/>
            <a:ext cx="1497376" cy="200617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2 - Prez Cover_Internal">
  <p:cSld name="CUSTOM_8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Google Shape;46;p9">
            <a:extLst xmlns:a="http://schemas.openxmlformats.org/drawingml/2006/main">
              <a:ext uri="{FF2B5EF4-FFF2-40B4-BE49-F238E27FC236}">
                <a16:creationId xmlns:a16="http://schemas.microsoft.com/office/drawing/2014/main" id="{0A1E3A10-A2DB-47CF-B4D9-C3BFE8CF26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763901"/>
            <a:ext cx="6506100" cy="183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7" name="Google Shape;47;p9">
            <a:extLst xmlns:a="http://schemas.openxmlformats.org/drawingml/2006/main">
              <a:ext uri="{FF2B5EF4-FFF2-40B4-BE49-F238E27FC236}">
                <a16:creationId xmlns:a16="http://schemas.microsoft.com/office/drawing/2014/main" id="{A3D834F5-457A-4A07-A46F-42E5AB6AB09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0000" y="2785907"/>
            <a:ext cx="6506100" cy="5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sp>
        <p:nvSpPr>
          <p:cNvPr id="48" name="Google Shape;48;p9">
            <a:extLst xmlns:a="http://schemas.openxmlformats.org/drawingml/2006/main">
              <a:ext uri="{FF2B5EF4-FFF2-40B4-BE49-F238E27FC236}">
                <a16:creationId xmlns:a16="http://schemas.microsoft.com/office/drawing/2014/main" id="{0C965DF9-8A69-4A21-AC0F-B274CE6E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rgbClr val="FFFFFF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49" name="Google Shape;49;p9">
            <a:extLst xmlns:a="http://schemas.openxmlformats.org/drawingml/2006/main">
              <a:ext uri="{FF2B5EF4-FFF2-40B4-BE49-F238E27FC236}">
                <a16:creationId xmlns:a16="http://schemas.microsoft.com/office/drawing/2014/main" id="{3BA667E8-7F9A-4FE3-8C2A-578857D9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66" name="Google Shape;50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eeed8b6ce949a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0000" y="291600"/>
            <a:ext cx="1024799" cy="21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cxnSp>
        <p:nvCxnSpPr>
          <p:cNvPr id="67" name="Google Shape;51;p9"/>
          <p:cNvCxnSpPr/>
          <p:nvPr/>
        </p:nvCxnSpPr>
        <p:spPr>
          <a:xfrm xmlns:a="http://schemas.openxmlformats.org/drawingml/2006/main">
            <a:off x="172800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68" name="Google Shape;52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bbc17c8a6c4ab3">
            <a:alphaModFix/>
          </a:blip>
          <a:srcRect xmlns:a="http://schemas.openxmlformats.org/drawingml/2006/main" l="0" t="1980" r="16318" b="12286"/>
          <a:stretch xmlns:a="http://schemas.openxmlformats.org/drawingml/2006/main"/>
        </p:blipFill>
        <p:spPr>
          <a:xfrm xmlns:a="http://schemas.openxmlformats.org/drawingml/2006/main">
            <a:off x="6722975" y="2663025"/>
            <a:ext cx="2421023" cy="24804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2 - Prez Cover_Light_Internal">
  <p:cSld name="CUSTOM_8_1_1">
    <p:bg>
      <p:bgPr>
        <a:solidFill xmlns:a="http://schemas.openxmlformats.org/drawingml/2006/main">
          <a:srgbClr val="FEFE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0">
            <a:extLst xmlns:a="http://schemas.openxmlformats.org/drawingml/2006/main">
              <a:ext uri="{FF2B5EF4-FFF2-40B4-BE49-F238E27FC236}">
                <a16:creationId xmlns:a16="http://schemas.microsoft.com/office/drawing/2014/main" id="{D78661DF-1246-4178-9FBD-4D12D43920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763901"/>
            <a:ext cx="6506100" cy="183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9pPr>
          </a:lstStyle>
          <a:p xmlns:a="http://schemas.openxmlformats.org/drawingml/2006/main"/>
        </p:txBody>
      </p:sp>
      <p:sp>
        <p:nvSpPr>
          <p:cNvPr id="55" name="Google Shape;55;p10">
            <a:extLst xmlns:a="http://schemas.openxmlformats.org/drawingml/2006/main">
              <a:ext uri="{FF2B5EF4-FFF2-40B4-BE49-F238E27FC236}">
                <a16:creationId xmlns:a16="http://schemas.microsoft.com/office/drawing/2014/main" id="{28735A51-1FE0-4D13-8F66-5F203273125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0000" y="2785907"/>
            <a:ext cx="6506100" cy="5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sp>
        <p:nvSpPr>
          <p:cNvPr id="56" name="Google Shape;56;p10">
            <a:extLst xmlns:a="http://schemas.openxmlformats.org/drawingml/2006/main">
              <a:ext uri="{FF2B5EF4-FFF2-40B4-BE49-F238E27FC236}">
                <a16:creationId xmlns:a16="http://schemas.microsoft.com/office/drawing/2014/main" id="{288AC9CC-8836-4B1E-BAEF-27354CB9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57" name="Google Shape;57;p10">
            <a:extLst xmlns:a="http://schemas.openxmlformats.org/drawingml/2006/main">
              <a:ext uri="{FF2B5EF4-FFF2-40B4-BE49-F238E27FC236}">
                <a16:creationId xmlns:a16="http://schemas.microsoft.com/office/drawing/2014/main" id="{3BFF5073-D121-42DD-819F-A8A562F6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8300" y="0"/>
            <a:ext cx="21657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74" name="Google Shape;58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3fc529e6e6407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0000" y="291600"/>
            <a:ext cx="1024799" cy="21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cxnSp>
        <p:nvCxnSpPr>
          <p:cNvPr id="75" name="Google Shape;59;p10"/>
          <p:cNvCxnSpPr/>
          <p:nvPr/>
        </p:nvCxnSpPr>
        <p:spPr>
          <a:xfrm xmlns:a="http://schemas.openxmlformats.org/drawingml/2006/main">
            <a:off x="172800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6" name="Google Shape;60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d939874b7b457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12462" y="1568661"/>
            <a:ext cx="1497376" cy="200617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0.xml><?xml version="1.0" encoding="utf-8"?>
<p:sldLayout xmlns:p="http://schemas.openxmlformats.org/presentationml/2006/main" matchingName="3 - Chapter title_Dark">
  <p:cSld name="CUSTOM_4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8" name="Google Shape;62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3baa52b063417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505602" y="4755986"/>
            <a:ext cx="252673" cy="257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3" name="Google Shape;63;p11">
            <a:extLst xmlns:a="http://schemas.openxmlformats.org/drawingml/2006/main">
              <a:ext uri="{FF2B5EF4-FFF2-40B4-BE49-F238E27FC236}">
                <a16:creationId xmlns:a16="http://schemas.microsoft.com/office/drawing/2014/main" id="{4664B241-303D-41BE-9497-653C29B64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05600" y="176400"/>
            <a:ext cx="5659500" cy="189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4" name="Google Shape;64;p11">
            <a:extLst xmlns:a="http://schemas.openxmlformats.org/drawingml/2006/main">
              <a:ext uri="{FF2B5EF4-FFF2-40B4-BE49-F238E27FC236}">
                <a16:creationId xmlns:a16="http://schemas.microsoft.com/office/drawing/2014/main" id="{00F17A4C-F51F-463A-AB6D-771D01815E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76400"/>
            <a:ext cx="1233600" cy="47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444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Spectral"/>
              <a:buChar char="●"/>
              <a:defRPr sz="3400">
                <a:solidFill>
                  <a:schemeClr val="lt1"/>
                </a:solidFill>
                <a:latin typeface="Spectral"/>
                <a:ea typeface="Spectral"/>
                <a:cs typeface="Spectral"/>
              </a:defRPr>
            </a:lvl1pPr>
            <a:lvl2pPr marL="914400" indent="-298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indent="-2921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3pPr>
            <a:lvl4pPr marL="182880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4pPr>
            <a:lvl5pPr marL="228600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5pPr>
            <a:lvl6pPr marL="2743200" indent="-2730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700"/>
              <a:buChar char="■"/>
              <a:defRPr>
                <a:solidFill>
                  <a:schemeClr val="lt1"/>
                </a:solidFill>
              </a:defRPr>
            </a:lvl6pPr>
            <a:lvl7pPr marL="3200400" indent="-2349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"/>
              <a:buChar char="●"/>
              <a:defRPr>
                <a:solidFill>
                  <a:schemeClr val="lt1"/>
                </a:solidFill>
              </a:defRPr>
            </a:lvl7pPr>
            <a:lvl8pPr marL="365760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"/>
              <a:buChar char="○"/>
              <a:defRPr>
                <a:solidFill>
                  <a:schemeClr val="lt1"/>
                </a:solidFill>
              </a:defRPr>
            </a:lvl8pPr>
            <a:lvl9pPr marL="411480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"/>
              <a:buChar char="■"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5" name="Google Shape;65;p11">
            <a:extLst xmlns:a="http://schemas.openxmlformats.org/drawingml/2006/main">
              <a:ext uri="{FF2B5EF4-FFF2-40B4-BE49-F238E27FC236}">
                <a16:creationId xmlns:a16="http://schemas.microsoft.com/office/drawing/2014/main" id="{8CB4CEFD-AB54-4D61-BB31-A308D909BFB8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505600" y="1872000"/>
            <a:ext cx="5659500" cy="5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sp>
        <p:nvSpPr>
          <p:cNvPr id="66" name="Google Shape;66;p11">
            <a:extLst xmlns:a="http://schemas.openxmlformats.org/drawingml/2006/main">
              <a:ext uri="{FF2B5EF4-FFF2-40B4-BE49-F238E27FC236}">
                <a16:creationId xmlns:a16="http://schemas.microsoft.com/office/drawing/2014/main" id="{0AF1171F-1CDF-4FA7-A4FB-6D979FE5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83" name="Google Shape;67;p11"/>
          <p:cNvCxnSpPr/>
          <p:nvPr/>
        </p:nvCxnSpPr>
        <p:spPr>
          <a:xfrm xmlns:a="http://schemas.openxmlformats.org/drawingml/2006/main">
            <a:off x="172800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4" name="Google Shape;68;p11"/>
          <p:cNvCxnSpPr/>
          <p:nvPr/>
        </p:nvCxnSpPr>
        <p:spPr>
          <a:xfrm xmlns:a="http://schemas.openxmlformats.org/drawingml/2006/main">
            <a:off x="2331425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</p:sldLayout>
</file>

<file path=ppt/slideLayouts/slideLayout11.xml><?xml version="1.0" encoding="utf-8"?>
<p:sldLayout xmlns:p="http://schemas.openxmlformats.org/presentationml/2006/main" matchingName="3 - Chapter title_Light">
  <p:cSld name="CUSTOM_4_1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70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fe15e2e8704ff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505600" y="4755986"/>
            <a:ext cx="252673" cy="257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" name="Google Shape;71;p12">
            <a:extLst xmlns:a="http://schemas.openxmlformats.org/drawingml/2006/main">
              <a:ext uri="{FF2B5EF4-FFF2-40B4-BE49-F238E27FC236}">
                <a16:creationId xmlns:a16="http://schemas.microsoft.com/office/drawing/2014/main" id="{3778B485-8688-40AE-9239-D820062613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05600" y="176400"/>
            <a:ext cx="5659500" cy="189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9pPr>
          </a:lstStyle>
          <a:p xmlns:a="http://schemas.openxmlformats.org/drawingml/2006/main"/>
        </p:txBody>
      </p:sp>
      <p:sp>
        <p:nvSpPr>
          <p:cNvPr id="72" name="Google Shape;72;p12">
            <a:extLst xmlns:a="http://schemas.openxmlformats.org/drawingml/2006/main">
              <a:ext uri="{FF2B5EF4-FFF2-40B4-BE49-F238E27FC236}">
                <a16:creationId xmlns:a16="http://schemas.microsoft.com/office/drawing/2014/main" id="{84356AC5-D804-42BE-8457-A464B79467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76400"/>
            <a:ext cx="1234800" cy="47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444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Font typeface="Spectral"/>
              <a:buChar char="●"/>
              <a:defRPr sz="3400">
                <a:latin typeface="Spectral"/>
                <a:ea typeface="Spectral"/>
                <a:cs typeface="Spectral"/>
              </a:defRPr>
            </a:lvl1pPr>
            <a:lvl2pPr marL="914400" indent="-298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indent="-2921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indent="-2730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700"/>
              <a:buChar char="■"/>
              <a:defRPr/>
            </a:lvl6pPr>
            <a:lvl7pPr marL="3200400" indent="-2349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00"/>
              <a:buChar char="●"/>
              <a:defRPr/>
            </a:lvl7pPr>
            <a:lvl8pPr marL="365760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"/>
              <a:buChar char="○"/>
              <a:defRPr/>
            </a:lvl8pPr>
            <a:lvl9pPr marL="411480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73" name="Google Shape;73;p12">
            <a:extLst xmlns:a="http://schemas.openxmlformats.org/drawingml/2006/main">
              <a:ext uri="{FF2B5EF4-FFF2-40B4-BE49-F238E27FC236}">
                <a16:creationId xmlns:a16="http://schemas.microsoft.com/office/drawing/2014/main" id="{937A7AB7-F199-45EA-B23D-A8A6E634DBDF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505600" y="1872000"/>
            <a:ext cx="5659500" cy="5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cxnSp>
        <p:nvCxnSpPr>
          <p:cNvPr id="88" name="Google Shape;74;p12"/>
          <p:cNvCxnSpPr/>
          <p:nvPr/>
        </p:nvCxnSpPr>
        <p:spPr>
          <a:xfrm xmlns:a="http://schemas.openxmlformats.org/drawingml/2006/main">
            <a:off x="172800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9" name="Google Shape;75;p12"/>
          <p:cNvCxnSpPr/>
          <p:nvPr/>
        </p:nvCxnSpPr>
        <p:spPr>
          <a:xfrm xmlns:a="http://schemas.openxmlformats.org/drawingml/2006/main">
            <a:off x="2331425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</p:sldLayout>
</file>

<file path=ppt/slideLayouts/slideLayout12.xml><?xml version="1.0" encoding="utf-8"?>
<p:sldLayout xmlns:p="http://schemas.openxmlformats.org/presentationml/2006/main" matchingName="3 - Chapter title_Dark_Internal">
  <p:cSld name="CUSTOM_4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7" name="Google Shape;77;p13">
            <a:extLst xmlns:a="http://schemas.openxmlformats.org/drawingml/2006/main">
              <a:ext uri="{FF2B5EF4-FFF2-40B4-BE49-F238E27FC236}">
                <a16:creationId xmlns:a16="http://schemas.microsoft.com/office/drawing/2014/main" id="{0047637C-37F9-45C6-8F16-782B141B56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05600" y="176400"/>
            <a:ext cx="5659500" cy="189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8" name="Google Shape;78;p13">
            <a:extLst xmlns:a="http://schemas.openxmlformats.org/drawingml/2006/main">
              <a:ext uri="{FF2B5EF4-FFF2-40B4-BE49-F238E27FC236}">
                <a16:creationId xmlns:a16="http://schemas.microsoft.com/office/drawing/2014/main" id="{9F38C360-4F32-4B8C-86CE-CB8CFCF5FA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76400"/>
            <a:ext cx="1234800" cy="47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444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Spectral"/>
              <a:buChar char="●"/>
              <a:defRPr sz="3400">
                <a:solidFill>
                  <a:schemeClr val="lt1"/>
                </a:solidFill>
                <a:latin typeface="Spectral"/>
                <a:ea typeface="Spectral"/>
                <a:cs typeface="Spectral"/>
              </a:defRPr>
            </a:lvl1pPr>
            <a:lvl2pPr marL="914400" indent="-298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indent="-2921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3pPr>
            <a:lvl4pPr marL="182880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4pPr>
            <a:lvl5pPr marL="228600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5pPr>
            <a:lvl6pPr marL="2743200" indent="-2730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700"/>
              <a:buChar char="■"/>
              <a:defRPr>
                <a:solidFill>
                  <a:schemeClr val="lt1"/>
                </a:solidFill>
              </a:defRPr>
            </a:lvl6pPr>
            <a:lvl7pPr marL="3200400" indent="-2349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"/>
              <a:buChar char="●"/>
              <a:defRPr>
                <a:solidFill>
                  <a:schemeClr val="lt1"/>
                </a:solidFill>
              </a:defRPr>
            </a:lvl7pPr>
            <a:lvl8pPr marL="365760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"/>
              <a:buChar char="○"/>
              <a:defRPr>
                <a:solidFill>
                  <a:schemeClr val="lt1"/>
                </a:solidFill>
              </a:defRPr>
            </a:lvl8pPr>
            <a:lvl9pPr marL="411480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"/>
              <a:buChar char="■"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9" name="Google Shape;79;p13">
            <a:extLst xmlns:a="http://schemas.openxmlformats.org/drawingml/2006/main">
              <a:ext uri="{FF2B5EF4-FFF2-40B4-BE49-F238E27FC236}">
                <a16:creationId xmlns:a16="http://schemas.microsoft.com/office/drawing/2014/main" id="{2C8543E9-4671-4041-A0D0-F23FB52384A1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505600" y="1872000"/>
            <a:ext cx="5659500" cy="5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Roboto Light"/>
              <a:buNone/>
              <a:defRPr sz="15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pic>
        <p:nvPicPr>
          <p:cNvPr id="98" name="Google Shape;80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a5ef35b870486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505602" y="4755986"/>
            <a:ext cx="252673" cy="257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13">
            <a:extLst xmlns:a="http://schemas.openxmlformats.org/drawingml/2006/main">
              <a:ext uri="{FF2B5EF4-FFF2-40B4-BE49-F238E27FC236}">
                <a16:creationId xmlns:a16="http://schemas.microsoft.com/office/drawing/2014/main" id="{AF39C392-F453-46F1-97F5-9A502978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2" name="Google Shape;82;p13">
            <a:extLst xmlns:a="http://schemas.openxmlformats.org/drawingml/2006/main">
              <a:ext uri="{FF2B5EF4-FFF2-40B4-BE49-F238E27FC236}">
                <a16:creationId xmlns:a16="http://schemas.microsoft.com/office/drawing/2014/main" id="{54AB04E5-B575-4F2D-81D1-B1DC9B75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01" name="Google Shape;83;p13"/>
          <p:cNvCxnSpPr/>
          <p:nvPr/>
        </p:nvCxnSpPr>
        <p:spPr>
          <a:xfrm xmlns:a="http://schemas.openxmlformats.org/drawingml/2006/main">
            <a:off x="172800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2" name="Google Shape;84;p13"/>
          <p:cNvCxnSpPr/>
          <p:nvPr/>
        </p:nvCxnSpPr>
        <p:spPr>
          <a:xfrm xmlns:a="http://schemas.openxmlformats.org/drawingml/2006/main">
            <a:off x="2331425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</p:sldLayout>
</file>

<file path=ppt/slideLayouts/slideLayout13.xml><?xml version="1.0" encoding="utf-8"?>
<p:sldLayout xmlns:p="http://schemas.openxmlformats.org/presentationml/2006/main" matchingName="3 - Chapter title_Light_Internal">
  <p:cSld name="CUSTOM_4_1_1_1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2" name="Google Shape;86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13e3c0d0a34b0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505602" y="4755986"/>
            <a:ext cx="252673" cy="257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7" name="Google Shape;87;p14">
            <a:extLst xmlns:a="http://schemas.openxmlformats.org/drawingml/2006/main">
              <a:ext uri="{FF2B5EF4-FFF2-40B4-BE49-F238E27FC236}">
                <a16:creationId xmlns:a16="http://schemas.microsoft.com/office/drawing/2014/main" id="{9AC73D51-2D68-45B7-AB4F-EA7279DE49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05600" y="176400"/>
            <a:ext cx="5659500" cy="189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9pPr>
          </a:lstStyle>
          <a:p xmlns:a="http://schemas.openxmlformats.org/drawingml/2006/main"/>
        </p:txBody>
      </p:sp>
      <p:sp>
        <p:nvSpPr>
          <p:cNvPr id="88" name="Google Shape;88;p14">
            <a:extLst xmlns:a="http://schemas.openxmlformats.org/drawingml/2006/main">
              <a:ext uri="{FF2B5EF4-FFF2-40B4-BE49-F238E27FC236}">
                <a16:creationId xmlns:a16="http://schemas.microsoft.com/office/drawing/2014/main" id="{2BB2A816-6ACA-42E6-9532-4ABFF94001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76400"/>
            <a:ext cx="1234800" cy="47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444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Font typeface="Spectral"/>
              <a:buChar char="●"/>
              <a:defRPr sz="3400">
                <a:latin typeface="Spectral"/>
                <a:ea typeface="Spectral"/>
                <a:cs typeface="Spectral"/>
              </a:defRPr>
            </a:lvl1pPr>
            <a:lvl2pPr marL="914400" indent="-298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indent="-2921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900"/>
              <a:buChar char="●"/>
              <a:defRPr/>
            </a:lvl4pPr>
            <a:lvl5pPr marL="228600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900"/>
              <a:buChar char="○"/>
              <a:defRPr/>
            </a:lvl5pPr>
            <a:lvl6pPr marL="2743200" indent="-2730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700"/>
              <a:buChar char="■"/>
              <a:defRPr/>
            </a:lvl6pPr>
            <a:lvl7pPr marL="3200400" indent="-2349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00"/>
              <a:buChar char="●"/>
              <a:defRPr/>
            </a:lvl7pPr>
            <a:lvl8pPr marL="365760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"/>
              <a:buChar char="○"/>
              <a:defRPr/>
            </a:lvl8pPr>
            <a:lvl9pPr marL="411480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89" name="Google Shape;89;p14">
            <a:extLst xmlns:a="http://schemas.openxmlformats.org/drawingml/2006/main">
              <a:ext uri="{FF2B5EF4-FFF2-40B4-BE49-F238E27FC236}">
                <a16:creationId xmlns:a16="http://schemas.microsoft.com/office/drawing/2014/main" id="{86F1DCF8-59FB-4ECC-9F87-85C5F5581EC0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505600" y="1872000"/>
            <a:ext cx="5659500" cy="5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Roboto Light"/>
              <a:buNone/>
              <a:defRPr sz="1500"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sp>
        <p:nvSpPr>
          <p:cNvPr id="90" name="Google Shape;90;p14">
            <a:extLst xmlns:a="http://schemas.openxmlformats.org/drawingml/2006/main">
              <a:ext uri="{FF2B5EF4-FFF2-40B4-BE49-F238E27FC236}">
                <a16:creationId xmlns:a16="http://schemas.microsoft.com/office/drawing/2014/main" id="{A240D40A-7C22-42C2-A752-68F78E2B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07" name="Google Shape;91;p14"/>
          <p:cNvCxnSpPr/>
          <p:nvPr/>
        </p:nvCxnSpPr>
        <p:spPr>
          <a:xfrm xmlns:a="http://schemas.openxmlformats.org/drawingml/2006/main">
            <a:off x="172800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" name="Google Shape;92;p14"/>
          <p:cNvCxnSpPr/>
          <p:nvPr/>
        </p:nvCxnSpPr>
        <p:spPr>
          <a:xfrm xmlns:a="http://schemas.openxmlformats.org/drawingml/2006/main">
            <a:off x="2331425" y="291600"/>
            <a:ext cx="0" cy="472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</p:sldLayout>
</file>

<file path=ppt/slideLayouts/slideLayout14.xml><?xml version="1.0" encoding="utf-8"?>
<p:sldLayout xmlns:p="http://schemas.openxmlformats.org/presentationml/2006/main" matchingName="4 - Basic_w/o sub_Light">
  <p:cSld name="CUSTOM_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5">
            <a:extLst xmlns:a="http://schemas.openxmlformats.org/drawingml/2006/main">
              <a:ext uri="{FF2B5EF4-FFF2-40B4-BE49-F238E27FC236}">
                <a16:creationId xmlns:a16="http://schemas.microsoft.com/office/drawing/2014/main" id="{6863AC5C-8405-444F-9AAA-65B016974B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229125"/>
            <a:ext cx="83367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</p:spTree>
  </p:cSld>
</p:sldLayout>
</file>

<file path=ppt/slideLayouts/slideLayout15.xml><?xml version="1.0" encoding="utf-8"?>
<p:sldLayout xmlns:p="http://schemas.openxmlformats.org/presentationml/2006/main" matchingName="4 - Basic_w/o sub_Dark">
  <p:cSld name="CUSTOM_5_3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6">
            <a:extLst xmlns:a="http://schemas.openxmlformats.org/drawingml/2006/main">
              <a:ext uri="{FF2B5EF4-FFF2-40B4-BE49-F238E27FC236}">
                <a16:creationId xmlns:a16="http://schemas.microsoft.com/office/drawing/2014/main" id="{EBB4E8D9-E910-4D7F-AB35-267CB10E6A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229125"/>
            <a:ext cx="83367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97" name="Google Shape;97;p16">
            <a:extLst xmlns:a="http://schemas.openxmlformats.org/drawingml/2006/main">
              <a:ext uri="{FF2B5EF4-FFF2-40B4-BE49-F238E27FC236}">
                <a16:creationId xmlns:a16="http://schemas.microsoft.com/office/drawing/2014/main" id="{7FCA7618-7BB4-49AD-B0DB-6C41CC9C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4 - Basic_w/o sub_Light_Internal">
  <p:cSld name="CUSTOM_5_2">
    <p:bg>
      <p:bgPr>
        <a:solidFill xmlns:a="http://schemas.openxmlformats.org/drawingml/2006/main">
          <a:srgbClr val="FEFE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Google Shape;99;p17">
            <a:extLst xmlns:a="http://schemas.openxmlformats.org/drawingml/2006/main">
              <a:ext uri="{FF2B5EF4-FFF2-40B4-BE49-F238E27FC236}">
                <a16:creationId xmlns:a16="http://schemas.microsoft.com/office/drawing/2014/main" id="{D84A57F6-BFCF-4D30-BE1D-F6D40EABE7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229125"/>
            <a:ext cx="83367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100" name="Google Shape;100;p17">
            <a:extLst xmlns:a="http://schemas.openxmlformats.org/drawingml/2006/main">
              <a:ext uri="{FF2B5EF4-FFF2-40B4-BE49-F238E27FC236}">
                <a16:creationId xmlns:a16="http://schemas.microsoft.com/office/drawing/2014/main" id="{A143D496-F93A-42F6-967F-F663D8EB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rgbClr val="1A1A1A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rgbClr val="1A1A1A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4 - Basic_w/o sub_Dark_Internal">
  <p:cSld name="CUSTOM_5_2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8">
            <a:extLst xmlns:a="http://schemas.openxmlformats.org/drawingml/2006/main">
              <a:ext uri="{FF2B5EF4-FFF2-40B4-BE49-F238E27FC236}">
                <a16:creationId xmlns:a16="http://schemas.microsoft.com/office/drawing/2014/main" id="{DA999D15-B89A-45FC-9149-892FF4085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229125"/>
            <a:ext cx="83367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03" name="Google Shape;103;p18">
            <a:extLst xmlns:a="http://schemas.openxmlformats.org/drawingml/2006/main">
              <a:ext uri="{FF2B5EF4-FFF2-40B4-BE49-F238E27FC236}">
                <a16:creationId xmlns:a16="http://schemas.microsoft.com/office/drawing/2014/main" id="{A167FD84-2505-4618-8FFE-99E97153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04" name="Google Shape;104;p18">
            <a:extLst xmlns:a="http://schemas.openxmlformats.org/drawingml/2006/main">
              <a:ext uri="{FF2B5EF4-FFF2-40B4-BE49-F238E27FC236}">
                <a16:creationId xmlns:a16="http://schemas.microsoft.com/office/drawing/2014/main" id="{88FA83A8-6DA9-416D-A9A9-12B63E3F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4 - Basic_Dark">
  <p:cSld name="CUSTOM_5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9">
            <a:extLst xmlns:a="http://schemas.openxmlformats.org/drawingml/2006/main">
              <a:ext uri="{FF2B5EF4-FFF2-40B4-BE49-F238E27FC236}">
                <a16:creationId xmlns:a16="http://schemas.microsoft.com/office/drawing/2014/main" id="{6AC1D878-F9CB-40D6-8E9C-5EC643CBE3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229125"/>
            <a:ext cx="83367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07" name="Google Shape;107;p19">
            <a:extLst xmlns:a="http://schemas.openxmlformats.org/drawingml/2006/main">
              <a:ext uri="{FF2B5EF4-FFF2-40B4-BE49-F238E27FC236}">
                <a16:creationId xmlns:a16="http://schemas.microsoft.com/office/drawing/2014/main" id="{367CD72E-07ED-48BF-9600-00AD639196C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0000" y="648525"/>
            <a:ext cx="8336700" cy="2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sp>
        <p:nvSpPr>
          <p:cNvPr id="108" name="Google Shape;108;p19">
            <a:extLst xmlns:a="http://schemas.openxmlformats.org/drawingml/2006/main">
              <a:ext uri="{FF2B5EF4-FFF2-40B4-BE49-F238E27FC236}">
                <a16:creationId xmlns:a16="http://schemas.microsoft.com/office/drawing/2014/main" id="{9087246E-EF98-4C13-BBC0-00494B75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4 - Basic_Light_Internal">
  <p:cSld name="CUSTOM_5_1_1_1">
    <p:bg>
      <p:bgPr>
        <a:solidFill xmlns:a="http://schemas.openxmlformats.org/drawingml/2006/main">
          <a:srgbClr val="FEFE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7134D12D-F45F-4FC8-A5FA-17C4E612E0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229125"/>
            <a:ext cx="83367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A46A13AC-F054-4D54-BD82-8B5639DFFA4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0000" y="648525"/>
            <a:ext cx="8336700" cy="2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 Light"/>
              <a:buNone/>
              <a:defRPr sz="1300"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sp>
        <p:nvSpPr>
          <p:cNvPr id="112" name="Google Shape;112;p20">
            <a:extLst xmlns:a="http://schemas.openxmlformats.org/drawingml/2006/main">
              <a:ext uri="{FF2B5EF4-FFF2-40B4-BE49-F238E27FC236}">
                <a16:creationId xmlns:a16="http://schemas.microsoft.com/office/drawing/2014/main" id="{5D9857DB-2482-4599-8797-63D5E9A8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rgbClr val="1A1A1A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rgbClr val="1A1A1A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4 - Basic_Dark_Internal ">
  <p:cSld name="CUSTOM_5_1_1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21">
            <a:extLst xmlns:a="http://schemas.openxmlformats.org/drawingml/2006/main">
              <a:ext uri="{FF2B5EF4-FFF2-40B4-BE49-F238E27FC236}">
                <a16:creationId xmlns:a16="http://schemas.microsoft.com/office/drawing/2014/main" id="{F15314FA-67FA-4BC6-A550-8CEA40CFA7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229125"/>
            <a:ext cx="83367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15" name="Google Shape;115;p21">
            <a:extLst xmlns:a="http://schemas.openxmlformats.org/drawingml/2006/main">
              <a:ext uri="{FF2B5EF4-FFF2-40B4-BE49-F238E27FC236}">
                <a16:creationId xmlns:a16="http://schemas.microsoft.com/office/drawing/2014/main" id="{F7137563-D7B2-4919-9CD1-9E476B16F5A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0000" y="648525"/>
            <a:ext cx="8336700" cy="2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1pPr>
            <a:lvl2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2pPr>
            <a:lvl3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3pPr>
            <a:lvl4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4pPr>
            <a:lvl5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5pPr>
            <a:lvl6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6pPr>
            <a:lvl7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Roboto Light"/>
              <a:buNone/>
              <a:defRPr sz="1300">
                <a:solidFill>
                  <a:schemeClr val="lt1"/>
                </a:solidFill>
                <a:latin typeface="Roboto Light"/>
                <a:ea typeface="Roboto Light"/>
                <a:cs typeface="Roboto Light"/>
              </a:defRPr>
            </a:lvl9pPr>
          </a:lstStyle>
          <a:p xmlns:a="http://schemas.openxmlformats.org/drawingml/2006/main"/>
        </p:txBody>
      </p:sp>
      <p:sp>
        <p:nvSp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2B0C57DE-A1FA-4AEE-9143-B0ED7A5C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74FC7FB5-7D61-44D5-9DEF-346D699F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4 - Side_Light">
  <p:cSld name="CUSTOM_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22">
            <a:extLst xmlns:a="http://schemas.openxmlformats.org/drawingml/2006/main">
              <a:ext uri="{FF2B5EF4-FFF2-40B4-BE49-F238E27FC236}">
                <a16:creationId xmlns:a16="http://schemas.microsoft.com/office/drawing/2014/main" id="{2C201607-1874-4D72-B1CF-792E4D931A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1059600"/>
            <a:ext cx="3604200" cy="30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 xmlns:a="http://schemas.openxmlformats.org/drawingml/2006/main"/>
        </p:txBody>
      </p:sp>
    </p:spTree>
  </p:cSld>
</p:sldLayout>
</file>

<file path=ppt/slideLayouts/slideLayout22.xml><?xml version="1.0" encoding="utf-8"?>
<p:sldLayout xmlns:p="http://schemas.openxmlformats.org/presentationml/2006/main" matchingName="4 - Side_Light_Internal">
  <p:cSld name="CUSTOM_3_1_1">
    <p:bg>
      <p:bgPr>
        <a:solidFill xmlns:a="http://schemas.openxmlformats.org/drawingml/2006/main">
          <a:srgbClr val="FEFE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23">
            <a:extLst xmlns:a="http://schemas.openxmlformats.org/drawingml/2006/main">
              <a:ext uri="{FF2B5EF4-FFF2-40B4-BE49-F238E27FC236}">
                <a16:creationId xmlns:a16="http://schemas.microsoft.com/office/drawing/2014/main" id="{000BDA4C-83E6-432B-B586-C7A55BAFDB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1059600"/>
            <a:ext cx="3604200" cy="30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 xmlns:a="http://schemas.openxmlformats.org/drawingml/2006/main"/>
        </p:txBody>
      </p:sp>
      <p:sp>
        <p:nvSpPr>
          <p:cNvPr id="122" name="Google Shape;122;p23">
            <a:extLst xmlns:a="http://schemas.openxmlformats.org/drawingml/2006/main">
              <a:ext uri="{FF2B5EF4-FFF2-40B4-BE49-F238E27FC236}">
                <a16:creationId xmlns:a16="http://schemas.microsoft.com/office/drawing/2014/main" id="{77F9D880-1B1C-46D7-B45D-6B2D3789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4 - Side_Dark_Internal">
  <p:cSld name="CUSTOM_3_1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24">
            <a:extLst xmlns:a="http://schemas.openxmlformats.org/drawingml/2006/main">
              <a:ext uri="{FF2B5EF4-FFF2-40B4-BE49-F238E27FC236}">
                <a16:creationId xmlns:a16="http://schemas.microsoft.com/office/drawing/2014/main" id="{A7BA7C3B-1B6E-492B-B9D2-78C46389AC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0000" y="1059600"/>
            <a:ext cx="3604200" cy="30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25" name="Google Shape;125;p24">
            <a:extLst xmlns:a="http://schemas.openxmlformats.org/drawingml/2006/main">
              <a:ext uri="{FF2B5EF4-FFF2-40B4-BE49-F238E27FC236}">
                <a16:creationId xmlns:a16="http://schemas.microsoft.com/office/drawing/2014/main" id="{F48D593B-F9E7-42EC-AE2E-07839E56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" y="4925687"/>
            <a:ext cx="6150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[ Internal Only ]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26" name="Google Shape;126;p24">
            <a:extLst xmlns:a="http://schemas.openxmlformats.org/drawingml/2006/main">
              <a:ext uri="{FF2B5EF4-FFF2-40B4-BE49-F238E27FC236}">
                <a16:creationId xmlns:a16="http://schemas.microsoft.com/office/drawing/2014/main" id="{C0A5CF31-457B-40A8-B52D-CB2D7274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lt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5 - Thank you">
  <p:cSld name="CUSTOM_6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25">
            <a:extLst xmlns:a="http://schemas.openxmlformats.org/drawingml/2006/main">
              <a:ext uri="{FF2B5EF4-FFF2-40B4-BE49-F238E27FC236}">
                <a16:creationId xmlns:a16="http://schemas.microsoft.com/office/drawing/2014/main" id="{1E534590-A0DD-4F5E-8696-AD0014C7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50" y="4700550"/>
            <a:ext cx="983400" cy="443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56" name="Google Shape;129;p25"/>
          <p:cNvCxnSpPr/>
          <p:nvPr/>
        </p:nvCxnSpPr>
        <p:spPr>
          <a:xfrm xmlns:a="http://schemas.openxmlformats.org/drawingml/2006/main">
            <a:off x="0" y="4607950"/>
            <a:ext cx="9145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0" name="Google Shape;130;p25">
            <a:extLst xmlns:a="http://schemas.openxmlformats.org/drawingml/2006/main">
              <a:ext uri="{FF2B5EF4-FFF2-40B4-BE49-F238E27FC236}">
                <a16:creationId xmlns:a16="http://schemas.microsoft.com/office/drawing/2014/main" id="{71F3E95A-57D8-4AA4-AC35-A02A7B83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796" y="4838824"/>
            <a:ext cx="9207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sz="800" b="0" i="0" u="none" cap="none">
                <a:solidFill>
                  <a:srgbClr val="9DAEAD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800" b="0" i="0" u="none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31" name="Google Shape;131;p25">
            <a:extLst xmlns:a="http://schemas.openxmlformats.org/drawingml/2006/main">
              <a:ext uri="{FF2B5EF4-FFF2-40B4-BE49-F238E27FC236}">
                <a16:creationId xmlns:a16="http://schemas.microsoft.com/office/drawing/2014/main" id="{7EF602A7-CE1A-4FEF-B16E-78A0C71A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839" y="4838824"/>
            <a:ext cx="7296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dataiku.com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59" name="Google Shape;132;p25"/>
          <p:cNvCxnSpPr/>
          <p:nvPr/>
        </p:nvCxnSpPr>
        <p:spPr>
          <a:xfrm xmlns:a="http://schemas.openxmlformats.org/drawingml/2006/main">
            <a:off x="2973168" y="4844524"/>
            <a:ext cx="0" cy="1116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3" name="Google Shape;133;p25">
            <a:extLst xmlns:a="http://schemas.openxmlformats.org/drawingml/2006/main">
              <a:ext uri="{FF2B5EF4-FFF2-40B4-BE49-F238E27FC236}">
                <a16:creationId xmlns:a16="http://schemas.microsoft.com/office/drawing/2014/main" id="{4A8D01C8-9787-4C16-98B3-B3AF0BC8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782" y="4838824"/>
            <a:ext cx="11985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9DAEAD"/>
                </a:solidFill>
                <a:latin typeface="Roboto"/>
                <a:ea typeface="Roboto"/>
                <a:cs typeface="Roboto"/>
              </a:rPr>
              <a:t>contact@dataiku.com</a:t>
            </a:r>
            <a:endParaRPr sz="800" b="0" i="0" u="none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61" name="Google Shape;134;p25"/>
          <p:cNvCxnSpPr/>
          <p:nvPr/>
        </p:nvCxnSpPr>
        <p:spPr>
          <a:xfrm xmlns:a="http://schemas.openxmlformats.org/drawingml/2006/main">
            <a:off x="3822111" y="4844524"/>
            <a:ext cx="0" cy="1116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2" name="Google Shape;135;p25"/>
          <p:cNvCxnSpPr/>
          <p:nvPr/>
        </p:nvCxnSpPr>
        <p:spPr>
          <a:xfrm xmlns:a="http://schemas.openxmlformats.org/drawingml/2006/main">
            <a:off x="5139954" y="4844524"/>
            <a:ext cx="0" cy="1116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05B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6" name="Google Shape;136;p25">
            <a:extLst xmlns:a="http://schemas.openxmlformats.org/drawingml/2006/main">
              <a:ext uri="{FF2B5EF4-FFF2-40B4-BE49-F238E27FC236}">
                <a16:creationId xmlns:a16="http://schemas.microsoft.com/office/drawing/2014/main" id="{293BB988-2C8E-4FD5-A59A-9BE39BE4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9626" y="4838825"/>
            <a:ext cx="2535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X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37" name="Google Shape;137;p25">
            <a:extLst xmlns:a="http://schemas.openxmlformats.org/drawingml/2006/main">
              <a:ext uri="{FF2B5EF4-FFF2-40B4-BE49-F238E27FC236}">
                <a16:creationId xmlns:a16="http://schemas.microsoft.com/office/drawing/2014/main" id="{659AAC8B-C252-45E4-8C98-BA0BEE26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8824" y="4838825"/>
            <a:ext cx="5373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LinkedIn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38" name="Google Shape;138;p25">
            <a:extLst xmlns:a="http://schemas.openxmlformats.org/drawingml/2006/main">
              <a:ext uri="{FF2B5EF4-FFF2-40B4-BE49-F238E27FC236}">
                <a16:creationId xmlns:a16="http://schemas.microsoft.com/office/drawing/2014/main" id="{3F29E507-1E3E-407D-BF8A-A5A814D9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421" y="4838825"/>
            <a:ext cx="5373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Youtube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39" name="Google Shape;139;p25">
            <a:extLst xmlns:a="http://schemas.openxmlformats.org/drawingml/2006/main">
              <a:ext uri="{FF2B5EF4-FFF2-40B4-BE49-F238E27FC236}">
                <a16:creationId xmlns:a16="http://schemas.microsoft.com/office/drawing/2014/main" id="{A833DE37-F401-43D8-A958-371D1C67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4018" y="4838825"/>
            <a:ext cx="537300" cy="1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00" b="0" i="0" u="sng" cap="none">
                <a:solidFill>
                  <a:schemeClr val="hlink"/>
                </a:solidFill>
                <a:latin typeface="Roboto"/>
                <a:ea typeface="Roboto"/>
                <a:cs typeface="Roboto"/>
              </a:rPr>
              <a:t>Facebook</a:t>
            </a:r>
            <a:endParaRPr sz="800" b="0" i="0" u="sng" cap="none">
              <a:solidFill>
                <a:srgbClr val="9DAEAD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67" name="Google Shape;140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a8ba1156294ca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14263" y="370246"/>
            <a:ext cx="1115474" cy="2390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8" name="Google Shape;141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26a4ae3025493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10800000">
            <a:off x="3935367" y="2804350"/>
            <a:ext cx="1273266" cy="18035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5">
            <a:extLst xmlns:a="http://schemas.openxmlformats.org/drawingml/2006/main">
              <a:ext uri="{FF2B5EF4-FFF2-40B4-BE49-F238E27FC236}">
                <a16:creationId xmlns:a16="http://schemas.microsoft.com/office/drawing/2014/main" id="{174D9DC1-0429-4F83-A4F4-918C8A3374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850" y="1378800"/>
            <a:ext cx="8046300" cy="20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5.xml><?xml version="1.0" encoding="utf-8"?>
<p:sldLayout xmlns:p="http://schemas.openxmlformats.org/presentationml/2006/main" matchingName="2 Columns Blue">
  <p:cSld name="CUSTOM_7_1_1_1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4" name="Google Shape;144;p26">
            <a:extLst xmlns:a="http://schemas.openxmlformats.org/drawingml/2006/main">
              <a:ext uri="{FF2B5EF4-FFF2-40B4-BE49-F238E27FC236}">
                <a16:creationId xmlns:a16="http://schemas.microsoft.com/office/drawing/2014/main" id="{58194C7E-393E-44F0-BBE3-E8BF679C83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10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45" name="Google Shape;145;p26">
            <a:extLst xmlns:a="http://schemas.openxmlformats.org/drawingml/2006/main">
              <a:ext uri="{FF2B5EF4-FFF2-40B4-BE49-F238E27FC236}">
                <a16:creationId xmlns:a16="http://schemas.microsoft.com/office/drawing/2014/main" id="{EB54AF4C-7F9E-457A-B989-317897D4DD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1975" y="225522"/>
            <a:ext cx="8009700" cy="31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0" anchor="b">
            <a:sp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oboto"/>
              <a:buNone/>
              <a:defRPr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b="1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/>
        </p:txBody>
      </p:sp>
      <p:sp>
        <p:nvSpPr>
          <p:cNvPr id="146" name="Google Shape;146;p26">
            <a:extLst xmlns:a="http://schemas.openxmlformats.org/drawingml/2006/main">
              <a:ext uri="{FF2B5EF4-FFF2-40B4-BE49-F238E27FC236}">
                <a16:creationId xmlns:a16="http://schemas.microsoft.com/office/drawing/2014/main" id="{896768BE-D89C-4445-9FF7-5CBC4CC240E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71975" y="538122"/>
            <a:ext cx="8009700" cy="21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91425" tIns="91425" rIns="91425" bIns="0" anchor="b">
            <a:sp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100"/>
              <a:buNone/>
              <a:defRPr sz="1100" b="1"/>
            </a:lvl1pPr>
            <a:lvl2pPr>
              <a:spcBef>
                <a:spcPts val="600"/>
              </a:spcBef>
              <a:spcAft>
                <a:spcPts val="0"/>
              </a:spcAft>
              <a:buSzPts val="1100"/>
              <a:buNone/>
              <a:defRPr b="1"/>
            </a:lvl2pPr>
            <a:lvl3pPr>
              <a:spcBef>
                <a:spcPts val="600"/>
              </a:spcBef>
              <a:spcAft>
                <a:spcPts val="0"/>
              </a:spcAft>
              <a:buSzPts val="1000"/>
              <a:buNone/>
              <a:defRPr b="1"/>
            </a:lvl3pPr>
            <a:lvl4pPr>
              <a:spcBef>
                <a:spcPts val="600"/>
              </a:spcBef>
              <a:spcAft>
                <a:spcPts val="0"/>
              </a:spcAft>
              <a:buSzPts val="900"/>
              <a:buNone/>
              <a:defRPr b="1"/>
            </a:lvl4pPr>
            <a:lvl5pPr>
              <a:spcBef>
                <a:spcPts val="600"/>
              </a:spcBef>
              <a:spcAft>
                <a:spcPts val="0"/>
              </a:spcAft>
              <a:buSzPts val="900"/>
              <a:buNone/>
              <a:defRPr b="1"/>
            </a:lvl5pPr>
            <a:lvl6pPr>
              <a:spcBef>
                <a:spcPts val="300"/>
              </a:spcBef>
              <a:spcAft>
                <a:spcPts val="0"/>
              </a:spcAft>
              <a:buSzPts val="700"/>
              <a:buNone/>
              <a:defRPr b="1"/>
            </a:lvl6pPr>
            <a:lvl7pPr>
              <a:spcBef>
                <a:spcPts val="300"/>
              </a:spcBef>
              <a:spcAft>
                <a:spcPts val="0"/>
              </a:spcAft>
              <a:buSzPts val="100"/>
              <a:buNone/>
              <a:defRPr b="1"/>
            </a:lvl7pPr>
            <a:lvl8pPr>
              <a:spcBef>
                <a:spcPts val="0"/>
              </a:spcBef>
              <a:spcAft>
                <a:spcPts val="0"/>
              </a:spcAft>
              <a:buSzPts val="100"/>
              <a:buNone/>
              <a:defRPr b="1"/>
            </a:lvl8pPr>
            <a:lvl9pPr>
              <a:spcBef>
                <a:spcPts val="0"/>
              </a:spcBef>
              <a:spcAft>
                <a:spcPts val="0"/>
              </a:spcAft>
              <a:buSzPts val="100"/>
              <a:buNone/>
              <a:defRPr b="1"/>
            </a:lvl9pPr>
          </a:lstStyle>
          <a:p xmlns:a="http://schemas.openxmlformats.org/drawingml/2006/main"/>
        </p:txBody>
      </p:sp>
      <p:sp>
        <p:nvSpPr>
          <p:cNvPr id="147" name="Google Shape;147;p26">
            <a:extLst xmlns:a="http://schemas.openxmlformats.org/drawingml/2006/main">
              <a:ext uri="{FF2B5EF4-FFF2-40B4-BE49-F238E27FC236}">
                <a16:creationId xmlns:a16="http://schemas.microsoft.com/office/drawing/2014/main" id="{AFBE5F9D-DF60-4798-BBFB-3A4DE6461E2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175900" y="1689550"/>
            <a:ext cx="2671200" cy="301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100"/>
              <a:buFont typeface="Roboto"/>
              <a:buNone/>
              <a:defRPr sz="1100">
                <a:latin typeface="Roboto"/>
                <a:ea typeface="Roboto"/>
                <a:cs typeface="Roboto"/>
              </a:defRPr>
            </a:lvl1pPr>
            <a:lvl2pPr>
              <a:spcBef>
                <a:spcPts val="600"/>
              </a:spcBef>
              <a:spcAft>
                <a:spcPts val="0"/>
              </a:spcAft>
              <a:buSzPts val="1100"/>
              <a:buNone/>
              <a:defRPr sz="1100"/>
            </a:lvl2pPr>
            <a:lvl3pPr>
              <a:spcBef>
                <a:spcPts val="600"/>
              </a:spcBef>
              <a:spcAft>
                <a:spcPts val="0"/>
              </a:spcAft>
              <a:buSzPts val="1100"/>
              <a:buNone/>
              <a:defRPr sz="1100"/>
            </a:lvl3pPr>
            <a:lvl4pPr>
              <a:spcBef>
                <a:spcPts val="600"/>
              </a:spcBef>
              <a:spcAft>
                <a:spcPts val="0"/>
              </a:spcAft>
              <a:buSzPts val="1100"/>
              <a:buNone/>
              <a:defRPr sz="1100"/>
            </a:lvl4pPr>
            <a:lvl5pPr>
              <a:spcBef>
                <a:spcPts val="600"/>
              </a:spcBef>
              <a:spcAft>
                <a:spcPts val="0"/>
              </a:spcAft>
              <a:buSzPts val="1100"/>
              <a:buNone/>
              <a:defRPr sz="1100"/>
            </a:lvl5pPr>
            <a:lvl6pPr>
              <a:spcBef>
                <a:spcPts val="300"/>
              </a:spcBef>
              <a:spcAft>
                <a:spcPts val="0"/>
              </a:spcAft>
              <a:buSzPts val="1100"/>
              <a:buNone/>
              <a:defRPr sz="1100"/>
            </a:lvl6pPr>
            <a:lvl7pPr>
              <a:spcBef>
                <a:spcPts val="300"/>
              </a:spcBef>
              <a:spcAft>
                <a:spcPts val="0"/>
              </a:spcAft>
              <a:buSzPts val="1100"/>
              <a:buNone/>
              <a:defRPr sz="1100"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 xmlns:a="http://schemas.openxmlformats.org/drawingml/2006/main"/>
        </p:txBody>
      </p:sp>
      <p:sp>
        <p:nvSpPr>
          <p:cNvPr id="148" name="Google Shape;148;p26">
            <a:extLst xmlns:a="http://schemas.openxmlformats.org/drawingml/2006/main">
              <a:ext uri="{FF2B5EF4-FFF2-40B4-BE49-F238E27FC236}">
                <a16:creationId xmlns:a16="http://schemas.microsoft.com/office/drawing/2014/main" id="{0ED73834-4E0B-4B4B-BE8C-023A65425174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3186688" y="1689550"/>
            <a:ext cx="2671200" cy="301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100"/>
              <a:buFont typeface="Roboto"/>
              <a:buNone/>
              <a:defRPr sz="1100">
                <a:latin typeface="Roboto"/>
                <a:ea typeface="Roboto"/>
                <a:cs typeface="Roboto"/>
              </a:defRPr>
            </a:lvl1pPr>
            <a:lvl2pPr>
              <a:spcBef>
                <a:spcPts val="600"/>
              </a:spcBef>
              <a:spcAft>
                <a:spcPts val="0"/>
              </a:spcAft>
              <a:buSzPts val="1100"/>
              <a:buNone/>
              <a:defRPr sz="1100"/>
            </a:lvl2pPr>
            <a:lvl3pPr>
              <a:spcBef>
                <a:spcPts val="600"/>
              </a:spcBef>
              <a:spcAft>
                <a:spcPts val="0"/>
              </a:spcAft>
              <a:buSzPts val="1100"/>
              <a:buNone/>
              <a:defRPr sz="1100"/>
            </a:lvl3pPr>
            <a:lvl4pPr>
              <a:spcBef>
                <a:spcPts val="600"/>
              </a:spcBef>
              <a:spcAft>
                <a:spcPts val="0"/>
              </a:spcAft>
              <a:buSzPts val="1100"/>
              <a:buNone/>
              <a:defRPr sz="1100"/>
            </a:lvl4pPr>
            <a:lvl5pPr>
              <a:spcBef>
                <a:spcPts val="600"/>
              </a:spcBef>
              <a:spcAft>
                <a:spcPts val="0"/>
              </a:spcAft>
              <a:buSzPts val="1100"/>
              <a:buNone/>
              <a:defRPr sz="1100"/>
            </a:lvl5pPr>
            <a:lvl6pPr>
              <a:spcBef>
                <a:spcPts val="300"/>
              </a:spcBef>
              <a:spcAft>
                <a:spcPts val="0"/>
              </a:spcAft>
              <a:buSzPts val="1100"/>
              <a:buNone/>
              <a:defRPr sz="1100"/>
            </a:lvl6pPr>
            <a:lvl7pPr>
              <a:spcBef>
                <a:spcPts val="300"/>
              </a:spcBef>
              <a:spcAft>
                <a:spcPts val="0"/>
              </a:spcAft>
              <a:buSzPts val="1100"/>
              <a:buNone/>
              <a:defRPr sz="1100"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 xmlns:a="http://schemas.openxmlformats.org/drawingml/2006/main"/>
        </p:txBody>
      </p:sp>
      <p:sp>
        <p:nvSpPr>
          <p:cNvPr id="149" name="Google Shape;149;p26">
            <a:extLst xmlns:a="http://schemas.openxmlformats.org/drawingml/2006/main">
              <a:ext uri="{FF2B5EF4-FFF2-40B4-BE49-F238E27FC236}">
                <a16:creationId xmlns:a16="http://schemas.microsoft.com/office/drawing/2014/main" id="{277C7EF9-1560-4BDC-AE80-55328BD0C6C6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175900" y="1034200"/>
            <a:ext cx="2671200" cy="65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1pPr>
            <a:lvl2pPr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2pPr>
            <a:lvl3pPr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3pPr>
            <a:lvl4pPr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4pPr>
            <a:lvl5pPr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5pPr>
            <a:lvl6pPr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6pPr>
            <a:lvl7pPr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50" name="Google Shape;150;p26">
            <a:extLst xmlns:a="http://schemas.openxmlformats.org/drawingml/2006/main">
              <a:ext uri="{FF2B5EF4-FFF2-40B4-BE49-F238E27FC236}">
                <a16:creationId xmlns:a16="http://schemas.microsoft.com/office/drawing/2014/main" id="{17137CAA-0BF4-46DA-859E-BF7C795BB7D0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3186700" y="1034200"/>
            <a:ext cx="2671200" cy="65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1pPr>
            <a:lvl2pPr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2pPr>
            <a:lvl3pPr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3pPr>
            <a:lvl4pPr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4pPr>
            <a:lvl5pPr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5pPr>
            <a:lvl6pPr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6pPr>
            <a:lvl7pPr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 b="1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6.xml><?xml version="1.0" encoding="utf-8"?>
<p:sldLayout xmlns:p="http://schemas.openxmlformats.org/presentationml/2006/main" matchingName="5 - General_w/o subti">
  <p:cSld name="5 - general_1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2" name="Google Shape;152;p27">
            <a:extLst xmlns:a="http://schemas.openxmlformats.org/drawingml/2006/main">
              <a:ext uri="{FF2B5EF4-FFF2-40B4-BE49-F238E27FC236}">
                <a16:creationId xmlns:a16="http://schemas.microsoft.com/office/drawing/2014/main" id="{CAC21FB5-5FAB-45BD-BC62-1698E6BB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53" name="Google Shape;153;p27">
            <a:extLst xmlns:a="http://schemas.openxmlformats.org/drawingml/2006/main">
              <a:ext uri="{FF2B5EF4-FFF2-40B4-BE49-F238E27FC236}">
                <a16:creationId xmlns:a16="http://schemas.microsoft.com/office/drawing/2014/main" id="{ADEBF09B-A7FC-4DB9-9F57-C4E078535C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223723" y="4909710"/>
            <a:ext cx="792000" cy="10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1pPr>
            <a:lvl2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2pPr>
            <a:lvl3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3pPr>
            <a:lvl4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4pPr>
            <a:lvl5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5pPr>
            <a:lvl6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6pPr>
            <a:lvl7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7pPr>
            <a:lvl8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8pPr>
            <a:lvl9pPr marL="0" marR="0" indent="0" algn="r">
              <a:spcBef>
                <a:spcPts val="0"/>
              </a:spcBef>
              <a:buNone/>
              <a:defRPr sz="700" b="0" i="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t>[ </a:t>
            </a:r>
            <a:fld id="{00000000-1234-1234-1234-123412341234}" type="slidenum">
              <a:t>‹#›</a:t>
            </a:fld>
            <a:r>
              <a:t> ]</a:t>
            </a:r>
            <a:endParaRPr/>
          </a:p>
        </p:txBody>
      </p:sp>
      <p:sp>
        <p:nvSpPr>
          <p:cNvPr id="154" name="Google Shape;154;p27">
            <a:extLst xmlns:a="http://schemas.openxmlformats.org/drawingml/2006/main">
              <a:ext uri="{FF2B5EF4-FFF2-40B4-BE49-F238E27FC236}">
                <a16:creationId xmlns:a16="http://schemas.microsoft.com/office/drawing/2014/main" id="{047BE930-21D3-4067-8984-13A4F1112F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49820" y="377971"/>
            <a:ext cx="78867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 xmlns:a="http://schemas.openxmlformats.org/drawingml/2006/main"/>
        </p:txBody>
      </p:sp>
      <p:sp>
        <p:nvSpPr>
          <p:cNvPr id="155" name="Google Shape;155;p27">
            <a:extLst xmlns:a="http://schemas.openxmlformats.org/drawingml/2006/main">
              <a:ext uri="{FF2B5EF4-FFF2-40B4-BE49-F238E27FC236}">
                <a16:creationId xmlns:a16="http://schemas.microsoft.com/office/drawing/2014/main" id="{51BB103C-5A0E-4962-A808-89FB3EC1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20" y="4917405"/>
            <a:ext cx="2755800" cy="10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rgbClr val="CCCCCC"/>
                </a:solidFill>
                <a:latin typeface="Roboto Mono Medium"/>
                <a:ea typeface="Roboto Mono Medium"/>
                <a:cs typeface="Roboto Mono Medium"/>
              </a:rPr>
              <a:t>©2025 DATAIKU INC.</a:t>
            </a:r>
            <a:endParaRPr sz="700">
              <a:solidFill>
                <a:srgbClr val="CCCCCC"/>
              </a:solidFill>
              <a:latin typeface="Roboto Mono Medium"/>
              <a:ea typeface="Roboto Mono Medium"/>
              <a:cs typeface="Roboto Mono Medium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2e4670171d4fba" /><Relationship Type="http://schemas.openxmlformats.org/officeDocument/2006/relationships/slideLayout" Target="/ppt/slideLayouts/slideLayout1.xml" Id="R8f56061df2bc4f11" /><Relationship Type="http://schemas.openxmlformats.org/officeDocument/2006/relationships/slideLayout" Target="/ppt/slideLayouts/slideLayout2.xml" Id="R2bdcad70a911499f" /><Relationship Type="http://schemas.openxmlformats.org/officeDocument/2006/relationships/slideLayout" Target="/ppt/slideLayouts/slideLayout3.xml" Id="R20c8806d7e994058" /><Relationship Type="http://schemas.openxmlformats.org/officeDocument/2006/relationships/slideLayout" Target="/ppt/slideLayouts/slideLayout4.xml" Id="R62440733d22444ec" /><Relationship Type="http://schemas.openxmlformats.org/officeDocument/2006/relationships/slideLayout" Target="/ppt/slideLayouts/slideLayout5.xml" Id="Rb0612d94efae4782" /><Relationship Type="http://schemas.openxmlformats.org/officeDocument/2006/relationships/slideLayout" Target="/ppt/slideLayouts/slideLayout6.xml" Id="Re2261303379149ec" /><Relationship Type="http://schemas.openxmlformats.org/officeDocument/2006/relationships/slideLayout" Target="/ppt/slideLayouts/slideLayout7.xml" Id="R68d11a1a0bf14db0" /><Relationship Type="http://schemas.openxmlformats.org/officeDocument/2006/relationships/slideLayout" Target="/ppt/slideLayouts/slideLayout8.xml" Id="Rc7fe2eef335a4f72" /><Relationship Type="http://schemas.openxmlformats.org/officeDocument/2006/relationships/slideLayout" Target="/ppt/slideLayouts/slideLayout9.xml" Id="R29afe314d08a4fd8" /><Relationship Type="http://schemas.openxmlformats.org/officeDocument/2006/relationships/slideLayout" Target="/ppt/slideLayouts/slideLayout10.xml" Id="Rf4ea63688eee4afb" /><Relationship Type="http://schemas.openxmlformats.org/officeDocument/2006/relationships/slideLayout" Target="/ppt/slideLayouts/slideLayout11.xml" Id="R8fa745faccef43fc" /><Relationship Type="http://schemas.openxmlformats.org/officeDocument/2006/relationships/slideLayout" Target="/ppt/slideLayouts/slideLayout12.xml" Id="Re233c51eff3c4d75" /><Relationship Type="http://schemas.openxmlformats.org/officeDocument/2006/relationships/slideLayout" Target="/ppt/slideLayouts/slideLayout13.xml" Id="Re5c9f0e7726843d7" /><Relationship Type="http://schemas.openxmlformats.org/officeDocument/2006/relationships/slideLayout" Target="/ppt/slideLayouts/slideLayout14.xml" Id="Re9e4dedd6c2047dd" /><Relationship Type="http://schemas.openxmlformats.org/officeDocument/2006/relationships/slideLayout" Target="/ppt/slideLayouts/slideLayout15.xml" Id="R42e8023156394807" /><Relationship Type="http://schemas.openxmlformats.org/officeDocument/2006/relationships/slideLayout" Target="/ppt/slideLayouts/slideLayout16.xml" Id="R9db17398b53042c7" /><Relationship Type="http://schemas.openxmlformats.org/officeDocument/2006/relationships/slideLayout" Target="/ppt/slideLayouts/slideLayout17.xml" Id="Rbaa0b0dd9b614714" /><Relationship Type="http://schemas.openxmlformats.org/officeDocument/2006/relationships/slideLayout" Target="/ppt/slideLayouts/slideLayout18.xml" Id="Rf3ec36ff6ee34114" /><Relationship Type="http://schemas.openxmlformats.org/officeDocument/2006/relationships/slideLayout" Target="/ppt/slideLayouts/slideLayout19.xml" Id="R863bdbc31f434c51" /><Relationship Type="http://schemas.openxmlformats.org/officeDocument/2006/relationships/slideLayout" Target="/ppt/slideLayouts/slideLayout20.xml" Id="R3336a3b89f5e420b" /><Relationship Type="http://schemas.openxmlformats.org/officeDocument/2006/relationships/slideLayout" Target="/ppt/slideLayouts/slideLayout21.xml" Id="Rcc019e07c6f24ee5" /><Relationship Type="http://schemas.openxmlformats.org/officeDocument/2006/relationships/slideLayout" Target="/ppt/slideLayouts/slideLayout22.xml" Id="R16c79ad326f34d38" /><Relationship Type="http://schemas.openxmlformats.org/officeDocument/2006/relationships/slideLayout" Target="/ppt/slideLayouts/slideLayout23.xml" Id="R062c7cedde694d69" /><Relationship Type="http://schemas.openxmlformats.org/officeDocument/2006/relationships/slideLayout" Target="/ppt/slideLayouts/slideLayout24.xml" Id="Rf0d22e9a0a134ff5" /><Relationship Type="http://schemas.openxmlformats.org/officeDocument/2006/relationships/slideLayout" Target="/ppt/slideLayouts/slideLayout25.xml" Id="R5365deda1c954b71" /><Relationship Type="http://schemas.openxmlformats.org/officeDocument/2006/relationships/slideLayout" Target="/ppt/slideLayouts/slideLayout26.xml" Id="R2d989a144284483c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FEFE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6AEE3259-16B3-48C4-8986-8EBC6CB012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6000" y="229125"/>
            <a:ext cx="8520600" cy="4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pectral"/>
              <a:buNone/>
              <a:defRPr sz="2400" b="0" i="0" u="none" cap="none">
                <a:solidFill>
                  <a:schemeClr val="dk1"/>
                </a:solidFill>
                <a:latin typeface="Spectral"/>
                <a:ea typeface="Spectral"/>
                <a:cs typeface="Spectral"/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EE82F933-756B-448C-9C67-AC698A1DF1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6000" y="1073525"/>
            <a:ext cx="8382300" cy="306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3048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marR="0" indent="-29845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oboto"/>
              <a:buChar char="○"/>
              <a:defRPr sz="11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marR="0" indent="-2921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oboto"/>
              <a:buChar char="■"/>
              <a:defRPr sz="10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L="1828800" marR="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●"/>
              <a:defRPr sz="9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L="2286000" marR="0" indent="-28575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○"/>
              <a:defRPr sz="9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L="2743200" marR="0" indent="-2730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■"/>
              <a:defRPr sz="7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L="3200400" marR="0" indent="-23495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"/>
              <a:buFont typeface="Roboto"/>
              <a:buChar char="●"/>
              <a:defRPr sz="1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L="3657600" marR="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Roboto"/>
              <a:buChar char="○"/>
              <a:defRPr sz="1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L="4114800" marR="0" indent="-234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Roboto"/>
              <a:buChar char="■"/>
              <a:defRPr sz="1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7E289C6A-E9A9-4264-BA72-C23F49A1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4925687"/>
            <a:ext cx="693900" cy="9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sz="6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©2026 Dataiku Inc.</a:t>
            </a:r>
            <a:endParaRPr sz="600" b="0" i="0" u="non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56061df2bc4f11"/>
    <p:sldLayoutId xmlns:r="http://schemas.openxmlformats.org/officeDocument/2006/relationships" id="2147483650" r:id="R2bdcad70a911499f"/>
    <p:sldLayoutId xmlns:r="http://schemas.openxmlformats.org/officeDocument/2006/relationships" id="2147483651" r:id="R20c8806d7e994058"/>
    <p:sldLayoutId xmlns:r="http://schemas.openxmlformats.org/officeDocument/2006/relationships" id="2147483652" r:id="R62440733d22444ec"/>
    <p:sldLayoutId xmlns:r="http://schemas.openxmlformats.org/officeDocument/2006/relationships" id="2147483653" r:id="Rb0612d94efae4782"/>
    <p:sldLayoutId xmlns:r="http://schemas.openxmlformats.org/officeDocument/2006/relationships" id="2147483654" r:id="Re2261303379149ec"/>
    <p:sldLayoutId xmlns:r="http://schemas.openxmlformats.org/officeDocument/2006/relationships" id="2147483655" r:id="R68d11a1a0bf14db0"/>
    <p:sldLayoutId xmlns:r="http://schemas.openxmlformats.org/officeDocument/2006/relationships" id="2147483656" r:id="Rc7fe2eef335a4f72"/>
    <p:sldLayoutId xmlns:r="http://schemas.openxmlformats.org/officeDocument/2006/relationships" id="2147483657" r:id="R29afe314d08a4fd8"/>
    <p:sldLayoutId xmlns:r="http://schemas.openxmlformats.org/officeDocument/2006/relationships" id="2147483658" r:id="Rf4ea63688eee4afb"/>
    <p:sldLayoutId xmlns:r="http://schemas.openxmlformats.org/officeDocument/2006/relationships" id="2147483659" r:id="R8fa745faccef43fc"/>
    <p:sldLayoutId xmlns:r="http://schemas.openxmlformats.org/officeDocument/2006/relationships" id="2147483660" r:id="Re233c51eff3c4d75"/>
    <p:sldLayoutId xmlns:r="http://schemas.openxmlformats.org/officeDocument/2006/relationships" id="2147483661" r:id="Re5c9f0e7726843d7"/>
    <p:sldLayoutId xmlns:r="http://schemas.openxmlformats.org/officeDocument/2006/relationships" id="2147483662" r:id="Re9e4dedd6c2047dd"/>
    <p:sldLayoutId xmlns:r="http://schemas.openxmlformats.org/officeDocument/2006/relationships" id="2147483663" r:id="R42e8023156394807"/>
    <p:sldLayoutId xmlns:r="http://schemas.openxmlformats.org/officeDocument/2006/relationships" id="2147483664" r:id="R9db17398b53042c7"/>
    <p:sldLayoutId xmlns:r="http://schemas.openxmlformats.org/officeDocument/2006/relationships" id="2147483665" r:id="Rbaa0b0dd9b614714"/>
    <p:sldLayoutId xmlns:r="http://schemas.openxmlformats.org/officeDocument/2006/relationships" id="2147483666" r:id="Rf3ec36ff6ee34114"/>
    <p:sldLayoutId xmlns:r="http://schemas.openxmlformats.org/officeDocument/2006/relationships" id="2147483667" r:id="R863bdbc31f434c51"/>
    <p:sldLayoutId xmlns:r="http://schemas.openxmlformats.org/officeDocument/2006/relationships" id="2147483668" r:id="R3336a3b89f5e420b"/>
    <p:sldLayoutId xmlns:r="http://schemas.openxmlformats.org/officeDocument/2006/relationships" id="2147483669" r:id="Rcc019e07c6f24ee5"/>
    <p:sldLayoutId xmlns:r="http://schemas.openxmlformats.org/officeDocument/2006/relationships" id="2147483670" r:id="R16c79ad326f34d38"/>
    <p:sldLayoutId xmlns:r="http://schemas.openxmlformats.org/officeDocument/2006/relationships" id="2147483671" r:id="R062c7cedde694d69"/>
    <p:sldLayoutId xmlns:r="http://schemas.openxmlformats.org/officeDocument/2006/relationships" id="2147483672" r:id="Rf0d22e9a0a134ff5"/>
    <p:sldLayoutId xmlns:r="http://schemas.openxmlformats.org/officeDocument/2006/relationships" id="2147483673" r:id="R5365deda1c954b71"/>
    <p:sldLayoutId xmlns:r="http://schemas.openxmlformats.org/officeDocument/2006/relationships" id="2147483674" r:id="R2d989a144284483c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ataiku Company Template 2026">
  <a:themeElements>
    <a:clrScheme name="Simple Light">
      <a:dk1>
        <a:srgbClr val="1A1A1A"/>
      </a:dk1>
      <a:lt1>
        <a:srgbClr val="FFFFFF"/>
      </a:lt1>
      <a:dk2>
        <a:srgbClr val="3EDAB2"/>
      </a:dk2>
      <a:lt2>
        <a:srgbClr val="06312E"/>
      </a:lt2>
      <a:accent1>
        <a:srgbClr val="F8F4E4"/>
      </a:accent1>
      <a:accent2>
        <a:srgbClr val="C7FFF1"/>
      </a:accent2>
      <a:accent3>
        <a:srgbClr val="7092F2"/>
      </a:accent3>
      <a:accent4>
        <a:srgbClr val="EDAB4F"/>
      </a:accent4>
      <a:accent5>
        <a:srgbClr val="C6D4FA"/>
      </a:accent5>
      <a:accent6>
        <a:srgbClr val="F8DDB9"/>
      </a:accent6>
      <a:hlink>
        <a:srgbClr val="3EDA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3d6846659c544ad6" /><Relationship Type="http://schemas.openxmlformats.org/officeDocument/2006/relationships/image" Target="/ppt/media/image8.png" Id="R48910eea74c14455" /><Relationship Type="http://schemas.openxmlformats.org/officeDocument/2006/relationships/image" Target="/ppt/media/image.gif" Id="R08d1212a93fe42b9" /><Relationship Type="http://schemas.openxmlformats.org/officeDocument/2006/relationships/image" Target="/ppt/media/image9.png" Id="R768baca3aff048d2" /><Relationship Type="http://schemas.openxmlformats.org/officeDocument/2006/relationships/image" Target="/ppt/media/image10.png" Id="R39298c8ebbcc455c" /><Relationship Type="http://schemas.openxmlformats.org/officeDocument/2006/relationships/image" Target="/ppt/media/image11.png" Id="Rbf97114f55b34095" /><Relationship Type="http://schemas.openxmlformats.org/officeDocument/2006/relationships/image" Target="/ppt/media/image12.png" Id="R9f9441cfff304bd0" /><Relationship Type="http://schemas.openxmlformats.org/officeDocument/2006/relationships/image" Target="/ppt/media/image13.png" Id="R2b2aa2105e324e39" /><Relationship Type="http://schemas.openxmlformats.org/officeDocument/2006/relationships/notesSlide" Target="/ppt/notesSlides/notesSlide1.xml" Id="R5a7372cd85ee40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3478f5199c86462d" /><Relationship Type="http://schemas.openxmlformats.org/officeDocument/2006/relationships/image" Target="/ppt/media/image8.png" Id="R50287251340440f9" /><Relationship Type="http://schemas.openxmlformats.org/officeDocument/2006/relationships/image" Target="/ppt/media/image.gif" Id="Rd97600fb1c9e4379" /><Relationship Type="http://schemas.openxmlformats.org/officeDocument/2006/relationships/image" Target="/ppt/media/image9.png" Id="R1f7671b04ffb4540" /><Relationship Type="http://schemas.openxmlformats.org/officeDocument/2006/relationships/image" Target="/ppt/media/image10.png" Id="Rfdfc433146954891" /><Relationship Type="http://schemas.openxmlformats.org/officeDocument/2006/relationships/image" Target="/ppt/media/image11.png" Id="Re4179f619d5a4880" /><Relationship Type="http://schemas.openxmlformats.org/officeDocument/2006/relationships/image" Target="/ppt/media/image12.png" Id="Rfa41f9787ab24190" /><Relationship Type="http://schemas.openxmlformats.org/officeDocument/2006/relationships/image" Target="/ppt/media/image13.png" Id="R68ad65a5cb9b440e" /><Relationship Type="http://schemas.openxmlformats.org/officeDocument/2006/relationships/notesSlide" Target="/ppt/notesSlides/notesSlide2.xml" Id="Rdd4a2496a6494d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6" name="Google Shape;160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910eea74c14455">
            <a:alphaModFix amt="40000"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4652" y="227982"/>
            <a:ext cx="369154" cy="304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1" name="Google Shape;161;p28">
            <a:extLst xmlns:a="http://schemas.openxmlformats.org/drawingml/2006/main">
              <a:ext uri="{FF2B5EF4-FFF2-40B4-BE49-F238E27FC236}">
                <a16:creationId xmlns:a16="http://schemas.microsoft.com/office/drawing/2014/main" id="{217B8E17-DE35-47B5-BFDB-7D46AC4C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00" y="1187775"/>
            <a:ext cx="2644500" cy="77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 b="1">
              <a:solidFill>
                <a:srgbClr val="00B2A9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62" name="Google Shape;162;p28">
            <a:extLst xmlns:a="http://schemas.openxmlformats.org/drawingml/2006/main">
              <a:ext uri="{FF2B5EF4-FFF2-40B4-BE49-F238E27FC236}">
                <a16:creationId xmlns:a16="http://schemas.microsoft.com/office/drawing/2014/main" id="{BA2592C5-52D6-402A-A69B-AC81D3F3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940" y="2380300"/>
            <a:ext cx="2292900" cy="367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Governed Dataiku Flow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63" name="Google Shape;163;p28">
            <a:extLst xmlns:a="http://schemas.openxmlformats.org/drawingml/2006/main">
              <a:ext uri="{FF2B5EF4-FFF2-40B4-BE49-F238E27FC236}">
                <a16:creationId xmlns:a16="http://schemas.microsoft.com/office/drawing/2014/main" id="{3A5FA05A-A256-4829-9490-23F6DE0F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899" y="296254"/>
            <a:ext cx="3119100" cy="277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Life Sciences | Drug Discovery R&amp;D</a:t>
            </a:r>
            <a:endParaRPr sz="1100" b="1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260" name="Google Shape;164;p28"/>
          <p:cNvCxnSpPr/>
          <p:nvPr/>
        </p:nvCxnSpPr>
        <p:spPr>
          <a:xfrm xmlns:a="http://schemas.openxmlformats.org/drawingml/2006/main">
            <a:off x="5954221" y="3651804"/>
            <a:ext cx="353700" cy="60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9525" cap="flat">
            <a:solidFill>
              <a:srgbClr val="00B2A9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165" name="Google Shape;165;p28">
            <a:extLst xmlns:a="http://schemas.openxmlformats.org/drawingml/2006/main">
              <a:ext uri="{FF2B5EF4-FFF2-40B4-BE49-F238E27FC236}">
                <a16:creationId xmlns:a16="http://schemas.microsoft.com/office/drawing/2014/main" id="{EDF98D6F-451A-4CDB-A126-E133F2FE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6" y="796095"/>
            <a:ext cx="2642100" cy="143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66" name="Google Shape;166;p28">
            <a:extLst xmlns:a="http://schemas.openxmlformats.org/drawingml/2006/main">
              <a:ext uri="{FF2B5EF4-FFF2-40B4-BE49-F238E27FC236}">
                <a16:creationId xmlns:a16="http://schemas.microsoft.com/office/drawing/2014/main" id="{CD6EEBD8-111A-4BD9-B3B2-88CC6AA6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71" y="926486"/>
            <a:ext cx="2382300" cy="21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221C35"/>
                </a:solidFill>
                <a:latin typeface="Roboto"/>
                <a:ea typeface="Roboto"/>
                <a:cs typeface="Roboto"/>
              </a:rPr>
              <a:t>Business Challenge</a:t>
            </a:r>
            <a:endParaRPr b="1">
              <a:solidFill>
                <a:srgbClr val="221C35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67" name="Google Shape;167;p28">
            <a:extLst xmlns:a="http://schemas.openxmlformats.org/drawingml/2006/main">
              <a:ext uri="{FF2B5EF4-FFF2-40B4-BE49-F238E27FC236}">
                <a16:creationId xmlns:a16="http://schemas.microsoft.com/office/drawing/2014/main" id="{ECBB02D0-1770-4B36-ACB5-DD8BD028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75" y="1226925"/>
            <a:ext cx="2458800" cy="9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>
                <a:latin typeface="Roboto"/>
                <a:ea typeface="Roboto"/>
                <a:cs typeface="Roboto"/>
              </a:rPr>
              <a:t>Target decisions depend on fragmented biomedical evidence. Teams need a governed way to connect sources, preserve lineage, and make the evidence usable before R&amp;D investment is committed.</a:t>
            </a:r>
            <a:endParaRPr/>
          </a:p>
        </p:txBody>
      </p:sp>
      <p:cxnSp>
        <p:nvCxnSpPr>
          <p:cNvPr id="264" name="Google Shape;168;p28"/>
          <p:cNvCxnSpPr/>
          <p:nvPr/>
        </p:nvCxnSpPr>
        <p:spPr>
          <a:xfrm xmlns:a="http://schemas.openxmlformats.org/drawingml/2006/main">
            <a:off x="446471" y="1162051"/>
            <a:ext cx="21912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EFEFE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" name="Google Shape;169;p28">
            <a:extLst xmlns:a="http://schemas.openxmlformats.org/drawingml/2006/main">
              <a:ext uri="{FF2B5EF4-FFF2-40B4-BE49-F238E27FC236}">
                <a16:creationId xmlns:a16="http://schemas.microsoft.com/office/drawing/2014/main" id="{C67B5789-F243-454F-A46F-C8D4252D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3350" y="796000"/>
            <a:ext cx="2644500" cy="143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3C0DF14D-38CC-43F4-A366-A8ACED04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750" y="926486"/>
            <a:ext cx="1972200" cy="21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221C35"/>
                </a:solidFill>
                <a:latin typeface="Roboto Condensed"/>
                <a:ea typeface="Roboto Condensed"/>
                <a:cs typeface="Roboto Condensed"/>
              </a:rPr>
              <a:t>Business Value</a:t>
            </a:r>
            <a:endParaRPr b="1">
              <a:solidFill>
                <a:srgbClr val="221C35"/>
              </a:solidFill>
              <a:latin typeface="Roboto Condensed"/>
              <a:ea typeface="Roboto Condensed"/>
              <a:cs typeface="Roboto Condensed"/>
            </a:endParaRPr>
          </a:p>
        </p:txBody>
      </p:sp>
      <p:cxnSp>
        <p:nvCxnSpPr>
          <p:cNvPr id="267" name="Google Shape;171;p28"/>
          <p:cNvCxnSpPr/>
          <p:nvPr/>
        </p:nvCxnSpPr>
        <p:spPr>
          <a:xfrm xmlns:a="http://schemas.openxmlformats.org/drawingml/2006/main">
            <a:off x="3353194" y="1162051"/>
            <a:ext cx="2135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EFEFE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EEA30A7-918C-42A6-A205-A2925F7A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050" y="796100"/>
            <a:ext cx="2644500" cy="143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0FC73EF6-5D4B-4E47-89E9-282B8EA8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950" y="884186"/>
            <a:ext cx="2535300" cy="21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221C35"/>
                </a:solidFill>
                <a:latin typeface="Roboto Condensed"/>
                <a:ea typeface="Roboto Condensed"/>
                <a:cs typeface="Roboto Condensed"/>
              </a:rPr>
              <a:t>Business Outcome</a:t>
            </a:r>
            <a:endParaRPr b="1">
              <a:solidFill>
                <a:srgbClr val="221C35"/>
              </a:solidFill>
              <a:latin typeface="Roboto Condensed"/>
              <a:ea typeface="Roboto Condensed"/>
              <a:cs typeface="Roboto Condensed"/>
            </a:endParaRPr>
          </a:p>
        </p:txBody>
      </p:sp>
      <p:cxnSp>
        <p:nvCxnSpPr>
          <p:cNvPr id="270" name="Google Shape;174;p28"/>
          <p:cNvCxnSpPr/>
          <p:nvPr/>
        </p:nvCxnSpPr>
        <p:spPr>
          <a:xfrm xmlns:a="http://schemas.openxmlformats.org/drawingml/2006/main">
            <a:off x="6340394" y="1162051"/>
            <a:ext cx="2138100" cy="24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EFEFE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6" name="Google Shape;176;p28">
            <a:extLst xmlns:a="http://schemas.openxmlformats.org/drawingml/2006/main">
              <a:ext uri="{FF2B5EF4-FFF2-40B4-BE49-F238E27FC236}">
                <a16:creationId xmlns:a16="http://schemas.microsoft.com/office/drawing/2014/main" id="{FCEA4B80-B51C-49BD-803F-2994E37E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3778" y="796047"/>
            <a:ext cx="284700" cy="284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78" name="Google Shape;178;p28">
            <a:extLst xmlns:a="http://schemas.openxmlformats.org/drawingml/2006/main">
              <a:ext uri="{FF2B5EF4-FFF2-40B4-BE49-F238E27FC236}">
                <a16:creationId xmlns:a16="http://schemas.microsoft.com/office/drawing/2014/main" id="{AD4E3855-91F4-4B52-9649-6C3A50BB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01941" y="883258"/>
            <a:ext cx="139423" cy="139423"/>
          </a:xfrm>
          <a:custGeom xmlns:a="http://schemas.openxmlformats.org/drawingml/2006/main">
            <a:rect l="l" t="t" r="r" b="b"/>
            <a:pathLst>
              <a:path w="228600" h="228600">
                <a:moveTo>
                  <a:pt x="224990" y="85687"/>
                </a:moveTo>
                <a:cubicBezTo>
                  <a:pt x="227343" y="94831"/>
                  <a:pt x="228600" y="104423"/>
                  <a:pt x="228600" y="114300"/>
                </a:cubicBezTo>
                <a:cubicBezTo>
                  <a:pt x="228600" y="177422"/>
                  <a:pt x="177422" y="228600"/>
                  <a:pt x="114300" y="228600"/>
                </a:cubicBezTo>
                <a:cubicBezTo>
                  <a:pt x="51178" y="228600"/>
                  <a:pt x="0" y="177422"/>
                  <a:pt x="0" y="114300"/>
                </a:cubicBezTo>
                <a:cubicBezTo>
                  <a:pt x="0" y="51178"/>
                  <a:pt x="51178" y="0"/>
                  <a:pt x="114300" y="0"/>
                </a:cubicBezTo>
                <a:cubicBezTo>
                  <a:pt x="124177" y="0"/>
                  <a:pt x="133769" y="1257"/>
                  <a:pt x="142904" y="3610"/>
                </a:cubicBezTo>
              </a:path>
            </a:pathLst>
          </a:custGeom>
          <a:solidFill xmlns:a="http://schemas.openxmlformats.org/drawingml/2006/main">
            <a:schemeClr val="accent4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79" name="Google Shape;179;p28">
            <a:extLst xmlns:a="http://schemas.openxmlformats.org/drawingml/2006/main">
              <a:ext uri="{FF2B5EF4-FFF2-40B4-BE49-F238E27FC236}">
                <a16:creationId xmlns:a16="http://schemas.microsoft.com/office/drawing/2014/main" id="{557708CB-5C6D-4703-BB59-5D5AA923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30988" y="912305"/>
            <a:ext cx="81330" cy="81330"/>
          </a:xfrm>
          <a:custGeom xmlns:a="http://schemas.openxmlformats.org/drawingml/2006/main">
            <a:rect l="l" t="t" r="r" b="b"/>
            <a:pathLst>
              <a:path w="133350" h="133350">
                <a:moveTo>
                  <a:pt x="133350" y="66675"/>
                </a:moveTo>
                <a:cubicBezTo>
                  <a:pt x="133350" y="103499"/>
                  <a:pt x="103499" y="133350"/>
                  <a:pt x="66675" y="133350"/>
                </a:cubicBezTo>
                <a:cubicBezTo>
                  <a:pt x="29851" y="133350"/>
                  <a:pt x="0" y="103499"/>
                  <a:pt x="0" y="66675"/>
                </a:cubicBezTo>
                <a:cubicBezTo>
                  <a:pt x="0" y="29851"/>
                  <a:pt x="29851" y="0"/>
                  <a:pt x="66675" y="0"/>
                </a:cubicBezTo>
                <a:cubicBezTo>
                  <a:pt x="103499" y="0"/>
                  <a:pt x="133350" y="29851"/>
                  <a:pt x="133350" y="66675"/>
                </a:cubicBezTo>
                <a:close/>
              </a:path>
            </a:pathLst>
          </a:custGeom>
          <a:solidFill xmlns:a="http://schemas.openxmlformats.org/drawingml/2006/main">
            <a:schemeClr val="accent4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0" name="Google Shape;180;p28">
            <a:extLst xmlns:a="http://schemas.openxmlformats.org/drawingml/2006/main">
              <a:ext uri="{FF2B5EF4-FFF2-40B4-BE49-F238E27FC236}">
                <a16:creationId xmlns:a16="http://schemas.microsoft.com/office/drawing/2014/main" id="{38707DCE-F3BA-45B9-9B92-1AB5AA82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71653" y="860021"/>
            <a:ext cx="92948" cy="92948"/>
          </a:xfrm>
          <a:custGeom xmlns:a="http://schemas.openxmlformats.org/drawingml/2006/main">
            <a:rect l="l" t="t" r="r" b="b"/>
            <a:pathLst>
              <a:path w="152400" h="152400">
                <a:moveTo>
                  <a:pt x="0" y="152400"/>
                </a:moveTo>
                <a:lnTo>
                  <a:pt x="152400" y="0"/>
                </a:lnTo>
              </a:path>
            </a:pathLst>
          </a:custGeom>
          <a:solidFill xmlns:a="http://schemas.openxmlformats.org/drawingml/2006/main">
            <a:schemeClr val="accent4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1" name="Google Shape;181;p28">
            <a:extLst xmlns:a="http://schemas.openxmlformats.org/drawingml/2006/main">
              <a:ext uri="{FF2B5EF4-FFF2-40B4-BE49-F238E27FC236}">
                <a16:creationId xmlns:a16="http://schemas.microsoft.com/office/drawing/2014/main" id="{4E5B0383-5684-4580-A2D6-2EFA38C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12318" y="854212"/>
            <a:ext cx="58093" cy="58093"/>
          </a:xfrm>
          <a:custGeom xmlns:a="http://schemas.openxmlformats.org/drawingml/2006/main">
            <a:rect l="l" t="t" r="r" b="b"/>
            <a:pathLst>
              <a:path w="95250" h="95250">
                <a:moveTo>
                  <a:pt x="47625" y="47625"/>
                </a:moveTo>
                <a:lnTo>
                  <a:pt x="38100" y="0"/>
                </a:lnTo>
                <a:lnTo>
                  <a:pt x="0" y="38100"/>
                </a:lnTo>
                <a:lnTo>
                  <a:pt x="9525" y="85725"/>
                </a:lnTo>
                <a:lnTo>
                  <a:pt x="57150" y="95250"/>
                </a:lnTo>
                <a:lnTo>
                  <a:pt x="95250" y="57150"/>
                </a:lnTo>
                <a:close/>
              </a:path>
            </a:pathLst>
          </a:custGeom>
          <a:solidFill xmlns:a="http://schemas.openxmlformats.org/drawingml/2006/main">
            <a:schemeClr val="accent4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2" name="Google Shape;182;p28">
            <a:extLst xmlns:a="http://schemas.openxmlformats.org/drawingml/2006/main">
              <a:ext uri="{FF2B5EF4-FFF2-40B4-BE49-F238E27FC236}">
                <a16:creationId xmlns:a16="http://schemas.microsoft.com/office/drawing/2014/main" id="{93201C1A-58A8-4CF2-8ADD-3EC5536A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150" y="796047"/>
            <a:ext cx="284700" cy="284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3" name="Google Shape;183;p28">
            <a:extLst xmlns:a="http://schemas.openxmlformats.org/drawingml/2006/main">
              <a:ext uri="{FF2B5EF4-FFF2-40B4-BE49-F238E27FC236}">
                <a16:creationId xmlns:a16="http://schemas.microsoft.com/office/drawing/2014/main" id="{A4B0845F-8E3A-4105-A72A-F8402EA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853" y="2380300"/>
            <a:ext cx="2340000" cy="367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Explore evidence in context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84" name="Google Shape;184;p28">
            <a:extLst xmlns:a="http://schemas.openxmlformats.org/drawingml/2006/main">
              <a:ext uri="{FF2B5EF4-FFF2-40B4-BE49-F238E27FC236}">
                <a16:creationId xmlns:a16="http://schemas.microsoft.com/office/drawing/2014/main" id="{6E3022B1-2C82-45DB-AD0B-E0928FDC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63" y="1192150"/>
            <a:ext cx="2535300" cy="113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165600" lvl="0" indent="-14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Roboto"/>
              <a:buChar char="→"/>
            </a:pPr>
            <a:r>
              <a:rPr sz="8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Unifies fragmented public and proprietary evidence</a:t>
            </a:r>
            <a:endParaRPr sz="8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165600" lvl="0" indent="-14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Roboto"/>
              <a:buChar char="→"/>
            </a:pPr>
            <a:r>
              <a:rPr sz="8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Creates an auditable, reusable graph asset</a:t>
            </a:r>
            <a:endParaRPr sz="8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165600" lvl="0" indent="-14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Roboto"/>
              <a:buChar char="→"/>
            </a:pPr>
            <a:r>
              <a:rPr sz="8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Gives teams a shared view of disease biology and supporting evidence</a:t>
            </a:r>
            <a:endParaRPr sz="8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85" name="Google Shape;185;p28">
            <a:extLst xmlns:a="http://schemas.openxmlformats.org/drawingml/2006/main">
              <a:ext uri="{FF2B5EF4-FFF2-40B4-BE49-F238E27FC236}">
                <a16:creationId xmlns:a16="http://schemas.microsoft.com/office/drawing/2014/main" id="{AA0491CD-E0FA-4BEC-A1DC-DE7FDFD2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950" y="1226925"/>
            <a:ext cx="253530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Industry: Life sciences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 b="1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Business Function: R&amp;D decision support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 b="1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Value: Faster, more traceable target-evidence review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 b="1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80" name="Google Shape;186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1212a93fe42b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75726" y="2472599"/>
            <a:ext cx="135000" cy="16940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7" name="Google Shape;187;p28">
            <a:extLst xmlns:a="http://schemas.openxmlformats.org/drawingml/2006/main">
              <a:ext uri="{FF2B5EF4-FFF2-40B4-BE49-F238E27FC236}">
                <a16:creationId xmlns:a16="http://schemas.microsoft.com/office/drawing/2014/main" id="{87D4E97B-6D85-4274-96B9-D734B0FF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8820" y="821683"/>
            <a:ext cx="213360" cy="198120"/>
          </a:xfrm>
          <a:custGeom xmlns:a="http://schemas.openxmlformats.org/drawingml/2006/main">
            <a:rect l="l" t="t" r="r" b="b"/>
            <a:pathLst>
              <a:path w="266700" h="247650">
                <a:moveTo>
                  <a:pt x="133350" y="0"/>
                </a:moveTo>
                <a:lnTo>
                  <a:pt x="174555" y="83477"/>
                </a:lnTo>
                <a:lnTo>
                  <a:pt x="266700" y="96869"/>
                </a:lnTo>
                <a:lnTo>
                  <a:pt x="200025" y="161858"/>
                </a:lnTo>
                <a:lnTo>
                  <a:pt x="215760" y="253632"/>
                </a:lnTo>
                <a:lnTo>
                  <a:pt x="133350" y="210322"/>
                </a:lnTo>
                <a:lnTo>
                  <a:pt x="50940" y="253632"/>
                </a:lnTo>
                <a:lnTo>
                  <a:pt x="66675" y="161858"/>
                </a:lnTo>
                <a:lnTo>
                  <a:pt x="0" y="96869"/>
                </a:lnTo>
                <a:lnTo>
                  <a:pt x="92145" y="83477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58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8" name="Google Shape;188;p28">
            <a:extLst xmlns:a="http://schemas.openxmlformats.org/drawingml/2006/main">
              <a:ext uri="{FF2B5EF4-FFF2-40B4-BE49-F238E27FC236}">
                <a16:creationId xmlns:a16="http://schemas.microsoft.com/office/drawing/2014/main" id="{46B958F6-BA4A-4FA7-AFDC-CF1EBC7D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0600" y="798722"/>
            <a:ext cx="284700" cy="284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0" name="Google Shape;190;p28">
            <a:extLst xmlns:a="http://schemas.openxmlformats.org/drawingml/2006/main">
              <a:ext uri="{FF2B5EF4-FFF2-40B4-BE49-F238E27FC236}">
                <a16:creationId xmlns:a16="http://schemas.microsoft.com/office/drawing/2014/main" id="{E6FEFD5F-8A98-45F4-89A6-15A17F39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04100" y="945745"/>
            <a:ext cx="47076" cy="37338"/>
          </a:xfrm>
          <a:custGeom xmlns:a="http://schemas.openxmlformats.org/drawingml/2006/main"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1" name="Google Shape;191;p28">
            <a:extLst xmlns:a="http://schemas.openxmlformats.org/drawingml/2006/main">
              <a:ext uri="{FF2B5EF4-FFF2-40B4-BE49-F238E27FC236}">
                <a16:creationId xmlns:a16="http://schemas.microsoft.com/office/drawing/2014/main" id="{9B12ACBF-35BE-4CD0-AB7A-1BC52842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74677" y="903740"/>
            <a:ext cx="176536" cy="107347"/>
          </a:xfrm>
          <a:custGeom xmlns:a="http://schemas.openxmlformats.org/drawingml/2006/main">
            <a:rect l="l" t="t" r="r" b="b"/>
            <a:pathLst>
              <a:path w="285750" h="219075">
                <a:moveTo>
                  <a:pt x="171450" y="0"/>
                </a:moveTo>
                <a:lnTo>
                  <a:pt x="285750" y="0"/>
                </a:lnTo>
                <a:lnTo>
                  <a:pt x="285750" y="219075"/>
                </a:lnTo>
                <a:lnTo>
                  <a:pt x="0" y="2190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2" name="Google Shape;192;p28">
            <a:extLst xmlns:a="http://schemas.openxmlformats.org/drawingml/2006/main">
              <a:ext uri="{FF2B5EF4-FFF2-40B4-BE49-F238E27FC236}">
                <a16:creationId xmlns:a16="http://schemas.microsoft.com/office/drawing/2014/main" id="{E09BF610-EF0B-4A02-B4F7-E7D19270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45291" y="871069"/>
            <a:ext cx="35307" cy="46672"/>
          </a:xfrm>
          <a:custGeom xmlns:a="http://schemas.openxmlformats.org/drawingml/2006/main">
            <a:rect l="l" t="t" r="r" b="b"/>
            <a:pathLst>
              <a:path w="57150" h="95250">
                <a:moveTo>
                  <a:pt x="57150" y="95250"/>
                </a:moveTo>
                <a:lnTo>
                  <a:pt x="0" y="95250"/>
                </a:lnTo>
                <a:lnTo>
                  <a:pt x="0" y="28575"/>
                </a:lnTo>
                <a:cubicBezTo>
                  <a:pt x="0" y="12792"/>
                  <a:pt x="12792" y="0"/>
                  <a:pt x="28575" y="0"/>
                </a:cubicBezTo>
                <a:lnTo>
                  <a:pt x="28575" y="0"/>
                </a:lnTo>
                <a:cubicBezTo>
                  <a:pt x="44358" y="0"/>
                  <a:pt x="57150" y="12792"/>
                  <a:pt x="57150" y="28575"/>
                </a:cubicBezTo>
                <a:lnTo>
                  <a:pt x="57150" y="95250"/>
                </a:lnTo>
                <a:close/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3" name="Google Shape;193;p28">
            <a:extLst xmlns:a="http://schemas.openxmlformats.org/drawingml/2006/main">
              <a:ext uri="{FF2B5EF4-FFF2-40B4-BE49-F238E27FC236}">
                <a16:creationId xmlns:a16="http://schemas.microsoft.com/office/drawing/2014/main" id="{B66EFBFD-1819-414A-9ED4-90826111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74714" y="950413"/>
            <a:ext cx="47076" cy="4704"/>
          </a:xfrm>
          <a:custGeom xmlns:a="http://schemas.openxmlformats.org/drawingml/2006/main">
            <a:rect l="l" t="t" r="r" b="b"/>
            <a:pathLst>
              <a:path w="76200" h="120000">
                <a:moveTo>
                  <a:pt x="0" y="0"/>
                </a:moveTo>
                <a:lnTo>
                  <a:pt x="76200" y="0"/>
                </a:lnTo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4" name="Google Shape;194;p28">
            <a:extLst xmlns:a="http://schemas.openxmlformats.org/drawingml/2006/main">
              <a:ext uri="{FF2B5EF4-FFF2-40B4-BE49-F238E27FC236}">
                <a16:creationId xmlns:a16="http://schemas.microsoft.com/office/drawing/2014/main" id="{3584E147-6CDE-43F6-B82B-5E60F6D5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74714" y="978416"/>
            <a:ext cx="47076" cy="4704"/>
          </a:xfrm>
          <a:custGeom xmlns:a="http://schemas.openxmlformats.org/drawingml/2006/main">
            <a:rect l="l" t="t" r="r" b="b"/>
            <a:pathLst>
              <a:path w="76200" h="120000">
                <a:moveTo>
                  <a:pt x="0" y="0"/>
                </a:moveTo>
                <a:lnTo>
                  <a:pt x="76200" y="0"/>
                </a:lnTo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5" name="Google Shape;195;p28">
            <a:extLst xmlns:a="http://schemas.openxmlformats.org/drawingml/2006/main">
              <a:ext uri="{FF2B5EF4-FFF2-40B4-BE49-F238E27FC236}">
                <a16:creationId xmlns:a16="http://schemas.microsoft.com/office/drawing/2014/main" id="{15FA0FFA-C67D-4508-81E1-D772C4C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60" y="306775"/>
            <a:ext cx="750060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chemeClr val="lt1"/>
                </a:solidFill>
                <a:latin typeface="Spectral"/>
                <a:ea typeface="Spectral"/>
                <a:cs typeface="Spectral"/>
              </a:rPr>
              <a:t>Golden Demo | Knowledge Graph (Part 1)</a:t>
            </a:r>
            <a:endParaRPr sz="800" b="1">
              <a:solidFill>
                <a:schemeClr val="dk2"/>
              </a:solidFill>
              <a:latin typeface="Spectral"/>
              <a:ea typeface="Spectral"/>
              <a:cs typeface="Spectral"/>
            </a:endParaRPr>
          </a:p>
        </p:txBody>
      </p:sp>
      <p:pic>
        <p:nvPicPr>
          <p:cNvPr id="289" name="Google Shape;196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8baca3aff048d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7563" y="2886300"/>
            <a:ext cx="2555663" cy="17165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cxnSp>
        <p:nvCxnSpPr>
          <p:cNvPr id="290" name="Google Shape;197;p28"/>
          <p:cNvCxnSpPr>
            <a:stCxn xmlns:a="http://schemas.openxmlformats.org/drawingml/2006/main" id="198" idx="3"/>
          </p:cNvCxnSpPr>
          <p:nvPr/>
        </p:nvCxnSpPr>
        <p:spPr>
          <a:xfrm xmlns:a="http://schemas.openxmlformats.org/drawingml/2006/main" rot="10800000" flipH="1">
            <a:off x="2283275" y="3621050"/>
            <a:ext cx="823800" cy="62280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9525" cap="flat">
            <a:solidFill>
              <a:srgbClr val="00B2A9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91" name="Google Shape;199;p28"/>
          <p:cNvCxnSpPr>
            <a:stCxn xmlns:a="http://schemas.openxmlformats.org/drawingml/2006/main" id="200" idx="3"/>
          </p:cNvCxnSpPr>
          <p:nvPr/>
        </p:nvCxnSpPr>
        <p:spPr>
          <a:xfrm xmlns:a="http://schemas.openxmlformats.org/drawingml/2006/main">
            <a:off x="2283600" y="3329000"/>
            <a:ext cx="823500" cy="29190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9525" cap="flat">
            <a:solidFill>
              <a:srgbClr val="00B2A9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201" name="Google Shape;201;p28">
            <a:extLst xmlns:a="http://schemas.openxmlformats.org/drawingml/2006/main">
              <a:ext uri="{FF2B5EF4-FFF2-40B4-BE49-F238E27FC236}">
                <a16:creationId xmlns:a16="http://schemas.microsoft.com/office/drawing/2014/main" id="{1EA2A572-126E-4023-9AEE-8F74757D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50" y="2380300"/>
            <a:ext cx="2098200" cy="551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Connect and govern biomedical evidence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93" name="Google Shape;202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1212a93fe42b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5566" y="2487049"/>
            <a:ext cx="135000" cy="16940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3" name="Google Shape;203;p28">
            <a:extLst xmlns:a="http://schemas.openxmlformats.org/drawingml/2006/main">
              <a:ext uri="{FF2B5EF4-FFF2-40B4-BE49-F238E27FC236}">
                <a16:creationId xmlns:a16="http://schemas.microsoft.com/office/drawing/2014/main" id="{56E5D595-45C4-4CEE-8853-EDC7A99A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49" y="4429700"/>
            <a:ext cx="2007000" cy="32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00" name="Google Shape;200;p28">
            <a:extLst xmlns:a="http://schemas.openxmlformats.org/drawingml/2006/main">
              <a:ext uri="{FF2B5EF4-FFF2-40B4-BE49-F238E27FC236}">
                <a16:creationId xmlns:a16="http://schemas.microsoft.com/office/drawing/2014/main" id="{81B29718-B0DF-4AAD-86B0-A9C56F28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0" y="2886650"/>
            <a:ext cx="1549800" cy="884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136801" lvl="0" indent="-14355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-"/>
            </a:pPr>
            <a:r>
              <a:rPr sz="9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Public biomedical
sources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98" name="Google Shape;198;p28">
            <a:extLst xmlns:a="http://schemas.openxmlformats.org/drawingml/2006/main">
              <a:ext uri="{FF2B5EF4-FFF2-40B4-BE49-F238E27FC236}">
                <a16:creationId xmlns:a16="http://schemas.microsoft.com/office/drawing/2014/main" id="{767E648D-4C6D-4F4B-9411-F57983B4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75" y="3904550"/>
            <a:ext cx="1549800" cy="67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136801" lvl="0" indent="-14355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-"/>
            </a:pPr>
            <a:r>
              <a:rPr sz="9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Proprietary
knowledge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97" name="Google Shape;204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98c8ebbcc455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550" y="3088450"/>
            <a:ext cx="213350" cy="21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98" name="Google Shape;205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7114f55b3409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550" y="3340325"/>
            <a:ext cx="213350" cy="21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99" name="Google Shape;206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9441cfff304bd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550" y="4138850"/>
            <a:ext cx="213350" cy="21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00" name="Google Shape;207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aa2105e324e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2408" y="2886300"/>
            <a:ext cx="2292901" cy="1708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095542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6" name="Google Shape;160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287251340440f9">
            <a:alphaModFix amt="40000"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4652" y="227982"/>
            <a:ext cx="369154" cy="304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1" name="Google Shape;161;p28">
            <a:extLst xmlns:a="http://schemas.openxmlformats.org/drawingml/2006/main">
              <a:ext uri="{FF2B5EF4-FFF2-40B4-BE49-F238E27FC236}">
                <a16:creationId xmlns:a16="http://schemas.microsoft.com/office/drawing/2014/main" id="{217B8E17-DE35-47B5-BFDB-7D46AC4C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00" y="1187775"/>
            <a:ext cx="2644500" cy="77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 b="1">
              <a:solidFill>
                <a:srgbClr val="00B2A9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62" name="Google Shape;162;p28">
            <a:extLst xmlns:a="http://schemas.openxmlformats.org/drawingml/2006/main">
              <a:ext uri="{FF2B5EF4-FFF2-40B4-BE49-F238E27FC236}">
                <a16:creationId xmlns:a16="http://schemas.microsoft.com/office/drawing/2014/main" id="{BA2592C5-52D6-402A-A69B-AC81D3F3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940" y="2380300"/>
            <a:ext cx="2292900" cy="367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Explainable Ranking Flow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63" name="Google Shape;163;p28">
            <a:extLst xmlns:a="http://schemas.openxmlformats.org/drawingml/2006/main">
              <a:ext uri="{FF2B5EF4-FFF2-40B4-BE49-F238E27FC236}">
                <a16:creationId xmlns:a16="http://schemas.microsoft.com/office/drawing/2014/main" id="{3A5FA05A-A256-4829-9490-23F6DE0F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899" y="296254"/>
            <a:ext cx="3119100" cy="277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Life Sciences | Drug Discovery R&amp;D</a:t>
            </a:r>
            <a:endParaRPr sz="1100" b="1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260" name="Google Shape;164;p28"/>
          <p:cNvCxnSpPr/>
          <p:nvPr/>
        </p:nvCxnSpPr>
        <p:spPr>
          <a:xfrm xmlns:a="http://schemas.openxmlformats.org/drawingml/2006/main">
            <a:off x="5954221" y="3651804"/>
            <a:ext cx="353700" cy="60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9525" cap="flat">
            <a:solidFill>
              <a:srgbClr val="00B2A9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165" name="Google Shape;165;p28">
            <a:extLst xmlns:a="http://schemas.openxmlformats.org/drawingml/2006/main">
              <a:ext uri="{FF2B5EF4-FFF2-40B4-BE49-F238E27FC236}">
                <a16:creationId xmlns:a16="http://schemas.microsoft.com/office/drawing/2014/main" id="{EDF98D6F-451A-4CDB-A126-E133F2FE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6" y="796095"/>
            <a:ext cx="2642100" cy="143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66" name="Google Shape;166;p28">
            <a:extLst xmlns:a="http://schemas.openxmlformats.org/drawingml/2006/main">
              <a:ext uri="{FF2B5EF4-FFF2-40B4-BE49-F238E27FC236}">
                <a16:creationId xmlns:a16="http://schemas.microsoft.com/office/drawing/2014/main" id="{CD6EEBD8-111A-4BD9-B3B2-88CC6AA6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71" y="926486"/>
            <a:ext cx="2382300" cy="21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221C35"/>
                </a:solidFill>
                <a:latin typeface="Roboto"/>
                <a:ea typeface="Roboto"/>
                <a:cs typeface="Roboto"/>
              </a:rPr>
              <a:t>Business Challenge</a:t>
            </a:r>
            <a:endParaRPr b="1">
              <a:solidFill>
                <a:srgbClr val="221C35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67" name="Google Shape;167;p28">
            <a:extLst xmlns:a="http://schemas.openxmlformats.org/drawingml/2006/main">
              <a:ext uri="{FF2B5EF4-FFF2-40B4-BE49-F238E27FC236}">
                <a16:creationId xmlns:a16="http://schemas.microsoft.com/office/drawing/2014/main" id="{ECBB02D0-1770-4B36-ACB5-DD8BD028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75" y="1226925"/>
            <a:ext cx="2458800" cy="9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>
                <a:latin typeface="Roboto"/>
                <a:ea typeface="Roboto"/>
                <a:cs typeface="Roboto"/>
              </a:rPr>
              <a:t>A ranked gene list is not enough to drive a portfolio decision. R&amp;D teams need a shortlist they can interrogate, filter, and defend—with clear evidence behind each candidate.</a:t>
            </a:r>
            <a:endParaRPr/>
          </a:p>
        </p:txBody>
      </p:sp>
      <p:cxnSp>
        <p:nvCxnSpPr>
          <p:cNvPr id="264" name="Google Shape;168;p28"/>
          <p:cNvCxnSpPr/>
          <p:nvPr/>
        </p:nvCxnSpPr>
        <p:spPr>
          <a:xfrm xmlns:a="http://schemas.openxmlformats.org/drawingml/2006/main">
            <a:off x="446471" y="1162051"/>
            <a:ext cx="21912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EFEFE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" name="Google Shape;169;p28">
            <a:extLst xmlns:a="http://schemas.openxmlformats.org/drawingml/2006/main">
              <a:ext uri="{FF2B5EF4-FFF2-40B4-BE49-F238E27FC236}">
                <a16:creationId xmlns:a16="http://schemas.microsoft.com/office/drawing/2014/main" id="{C67B5789-F243-454F-A46F-C8D4252D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3350" y="796000"/>
            <a:ext cx="2644500" cy="143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3C0DF14D-38CC-43F4-A366-A8ACED04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750" y="926486"/>
            <a:ext cx="1972200" cy="21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221C35"/>
                </a:solidFill>
                <a:latin typeface="Roboto Condensed"/>
                <a:ea typeface="Roboto Condensed"/>
                <a:cs typeface="Roboto Condensed"/>
              </a:rPr>
              <a:t>Business Value</a:t>
            </a:r>
            <a:endParaRPr b="1">
              <a:solidFill>
                <a:srgbClr val="221C35"/>
              </a:solidFill>
              <a:latin typeface="Roboto Condensed"/>
              <a:ea typeface="Roboto Condensed"/>
              <a:cs typeface="Roboto Condensed"/>
            </a:endParaRPr>
          </a:p>
        </p:txBody>
      </p:sp>
      <p:cxnSp>
        <p:nvCxnSpPr>
          <p:cNvPr id="267" name="Google Shape;171;p28"/>
          <p:cNvCxnSpPr/>
          <p:nvPr/>
        </p:nvCxnSpPr>
        <p:spPr>
          <a:xfrm xmlns:a="http://schemas.openxmlformats.org/drawingml/2006/main">
            <a:off x="3353194" y="1162051"/>
            <a:ext cx="2135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EFEFE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EEA30A7-918C-42A6-A205-A2925F7A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050" y="796100"/>
            <a:ext cx="2644500" cy="143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0FC73EF6-5D4B-4E47-89E9-282B8EA8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950" y="884186"/>
            <a:ext cx="2535300" cy="21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221C35"/>
                </a:solidFill>
                <a:latin typeface="Roboto Condensed"/>
                <a:ea typeface="Roboto Condensed"/>
                <a:cs typeface="Roboto Condensed"/>
              </a:rPr>
              <a:t>Business Outcome</a:t>
            </a:r>
            <a:endParaRPr b="1">
              <a:solidFill>
                <a:srgbClr val="221C35"/>
              </a:solidFill>
              <a:latin typeface="Roboto Condensed"/>
              <a:ea typeface="Roboto Condensed"/>
              <a:cs typeface="Roboto Condensed"/>
            </a:endParaRPr>
          </a:p>
        </p:txBody>
      </p:sp>
      <p:cxnSp>
        <p:nvCxnSpPr>
          <p:cNvPr id="270" name="Google Shape;174;p28"/>
          <p:cNvCxnSpPr/>
          <p:nvPr/>
        </p:nvCxnSpPr>
        <p:spPr>
          <a:xfrm xmlns:a="http://schemas.openxmlformats.org/drawingml/2006/main">
            <a:off x="6340394" y="1162051"/>
            <a:ext cx="2138100" cy="24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EFEFE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6" name="Google Shape;176;p28">
            <a:extLst xmlns:a="http://schemas.openxmlformats.org/drawingml/2006/main">
              <a:ext uri="{FF2B5EF4-FFF2-40B4-BE49-F238E27FC236}">
                <a16:creationId xmlns:a16="http://schemas.microsoft.com/office/drawing/2014/main" id="{FCEA4B80-B51C-49BD-803F-2994E37E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3778" y="796047"/>
            <a:ext cx="284700" cy="284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78" name="Google Shape;178;p28">
            <a:extLst xmlns:a="http://schemas.openxmlformats.org/drawingml/2006/main">
              <a:ext uri="{FF2B5EF4-FFF2-40B4-BE49-F238E27FC236}">
                <a16:creationId xmlns:a16="http://schemas.microsoft.com/office/drawing/2014/main" id="{AD4E3855-91F4-4B52-9649-6C3A50BB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01941" y="883258"/>
            <a:ext cx="139423" cy="139423"/>
          </a:xfrm>
          <a:custGeom xmlns:a="http://schemas.openxmlformats.org/drawingml/2006/main">
            <a:rect l="l" t="t" r="r" b="b"/>
            <a:pathLst>
              <a:path w="228600" h="228600">
                <a:moveTo>
                  <a:pt x="224990" y="85687"/>
                </a:moveTo>
                <a:cubicBezTo>
                  <a:pt x="227343" y="94831"/>
                  <a:pt x="228600" y="104423"/>
                  <a:pt x="228600" y="114300"/>
                </a:cubicBezTo>
                <a:cubicBezTo>
                  <a:pt x="228600" y="177422"/>
                  <a:pt x="177422" y="228600"/>
                  <a:pt x="114300" y="228600"/>
                </a:cubicBezTo>
                <a:cubicBezTo>
                  <a:pt x="51178" y="228600"/>
                  <a:pt x="0" y="177422"/>
                  <a:pt x="0" y="114300"/>
                </a:cubicBezTo>
                <a:cubicBezTo>
                  <a:pt x="0" y="51178"/>
                  <a:pt x="51178" y="0"/>
                  <a:pt x="114300" y="0"/>
                </a:cubicBezTo>
                <a:cubicBezTo>
                  <a:pt x="124177" y="0"/>
                  <a:pt x="133769" y="1257"/>
                  <a:pt x="142904" y="3610"/>
                </a:cubicBezTo>
              </a:path>
            </a:pathLst>
          </a:custGeom>
          <a:solidFill xmlns:a="http://schemas.openxmlformats.org/drawingml/2006/main">
            <a:schemeClr val="accent4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79" name="Google Shape;179;p28">
            <a:extLst xmlns:a="http://schemas.openxmlformats.org/drawingml/2006/main">
              <a:ext uri="{FF2B5EF4-FFF2-40B4-BE49-F238E27FC236}">
                <a16:creationId xmlns:a16="http://schemas.microsoft.com/office/drawing/2014/main" id="{557708CB-5C6D-4703-BB59-5D5AA923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30988" y="912305"/>
            <a:ext cx="81330" cy="81330"/>
          </a:xfrm>
          <a:custGeom xmlns:a="http://schemas.openxmlformats.org/drawingml/2006/main">
            <a:rect l="l" t="t" r="r" b="b"/>
            <a:pathLst>
              <a:path w="133350" h="133350">
                <a:moveTo>
                  <a:pt x="133350" y="66675"/>
                </a:moveTo>
                <a:cubicBezTo>
                  <a:pt x="133350" y="103499"/>
                  <a:pt x="103499" y="133350"/>
                  <a:pt x="66675" y="133350"/>
                </a:cubicBezTo>
                <a:cubicBezTo>
                  <a:pt x="29851" y="133350"/>
                  <a:pt x="0" y="103499"/>
                  <a:pt x="0" y="66675"/>
                </a:cubicBezTo>
                <a:cubicBezTo>
                  <a:pt x="0" y="29851"/>
                  <a:pt x="29851" y="0"/>
                  <a:pt x="66675" y="0"/>
                </a:cubicBezTo>
                <a:cubicBezTo>
                  <a:pt x="103499" y="0"/>
                  <a:pt x="133350" y="29851"/>
                  <a:pt x="133350" y="66675"/>
                </a:cubicBezTo>
                <a:close/>
              </a:path>
            </a:pathLst>
          </a:custGeom>
          <a:solidFill xmlns:a="http://schemas.openxmlformats.org/drawingml/2006/main">
            <a:schemeClr val="accent4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0" name="Google Shape;180;p28">
            <a:extLst xmlns:a="http://schemas.openxmlformats.org/drawingml/2006/main">
              <a:ext uri="{FF2B5EF4-FFF2-40B4-BE49-F238E27FC236}">
                <a16:creationId xmlns:a16="http://schemas.microsoft.com/office/drawing/2014/main" id="{38707DCE-F3BA-45B9-9B92-1AB5AA82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71653" y="860021"/>
            <a:ext cx="92948" cy="92948"/>
          </a:xfrm>
          <a:custGeom xmlns:a="http://schemas.openxmlformats.org/drawingml/2006/main">
            <a:rect l="l" t="t" r="r" b="b"/>
            <a:pathLst>
              <a:path w="152400" h="152400">
                <a:moveTo>
                  <a:pt x="0" y="152400"/>
                </a:moveTo>
                <a:lnTo>
                  <a:pt x="152400" y="0"/>
                </a:lnTo>
              </a:path>
            </a:pathLst>
          </a:custGeom>
          <a:solidFill xmlns:a="http://schemas.openxmlformats.org/drawingml/2006/main">
            <a:schemeClr val="accent4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1" name="Google Shape;181;p28">
            <a:extLst xmlns:a="http://schemas.openxmlformats.org/drawingml/2006/main">
              <a:ext uri="{FF2B5EF4-FFF2-40B4-BE49-F238E27FC236}">
                <a16:creationId xmlns:a16="http://schemas.microsoft.com/office/drawing/2014/main" id="{4E5B0383-5684-4580-A2D6-2EFA38C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12318" y="854212"/>
            <a:ext cx="58093" cy="58093"/>
          </a:xfrm>
          <a:custGeom xmlns:a="http://schemas.openxmlformats.org/drawingml/2006/main">
            <a:rect l="l" t="t" r="r" b="b"/>
            <a:pathLst>
              <a:path w="95250" h="95250">
                <a:moveTo>
                  <a:pt x="47625" y="47625"/>
                </a:moveTo>
                <a:lnTo>
                  <a:pt x="38100" y="0"/>
                </a:lnTo>
                <a:lnTo>
                  <a:pt x="0" y="38100"/>
                </a:lnTo>
                <a:lnTo>
                  <a:pt x="9525" y="85725"/>
                </a:lnTo>
                <a:lnTo>
                  <a:pt x="57150" y="95250"/>
                </a:lnTo>
                <a:lnTo>
                  <a:pt x="95250" y="57150"/>
                </a:lnTo>
                <a:close/>
              </a:path>
            </a:pathLst>
          </a:custGeom>
          <a:solidFill xmlns:a="http://schemas.openxmlformats.org/drawingml/2006/main">
            <a:schemeClr val="accent4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2" name="Google Shape;182;p28">
            <a:extLst xmlns:a="http://schemas.openxmlformats.org/drawingml/2006/main">
              <a:ext uri="{FF2B5EF4-FFF2-40B4-BE49-F238E27FC236}">
                <a16:creationId xmlns:a16="http://schemas.microsoft.com/office/drawing/2014/main" id="{93201C1A-58A8-4CF2-8ADD-3EC5536A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150" y="796047"/>
            <a:ext cx="284700" cy="284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3" name="Google Shape;183;p28">
            <a:extLst xmlns:a="http://schemas.openxmlformats.org/drawingml/2006/main">
              <a:ext uri="{FF2B5EF4-FFF2-40B4-BE49-F238E27FC236}">
                <a16:creationId xmlns:a16="http://schemas.microsoft.com/office/drawing/2014/main" id="{A4B0845F-8E3A-4105-A72A-F8402EA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853" y="2380300"/>
            <a:ext cx="2340000" cy="367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Evidence paths for review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84" name="Google Shape;184;p28">
            <a:extLst xmlns:a="http://schemas.openxmlformats.org/drawingml/2006/main">
              <a:ext uri="{FF2B5EF4-FFF2-40B4-BE49-F238E27FC236}">
                <a16:creationId xmlns:a16="http://schemas.microsoft.com/office/drawing/2014/main" id="{6E3022B1-2C82-45DB-AD0B-E0928FDC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63" y="1192150"/>
            <a:ext cx="2535300" cy="113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165600" lvl="0" indent="-14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Roboto"/>
              <a:buChar char="→"/>
            </a:pPr>
            <a:r>
              <a:rPr sz="8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Ranks candidate targets for each disease</a:t>
            </a:r>
            <a:endParaRPr sz="8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165600" lvl="0" indent="-14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Roboto"/>
              <a:buChar char="→"/>
            </a:pPr>
            <a:r>
              <a:rPr sz="8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Explains why a candidate surfaced and how it connects to disease biology</a:t>
            </a:r>
            <a:endParaRPr sz="8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165600" lvl="0" indent="-14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Roboto"/>
              <a:buChar char="→"/>
            </a:pPr>
            <a:r>
              <a:rPr sz="8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Lets scientists filter the list on their own decision criteria</a:t>
            </a:r>
            <a:endParaRPr sz="8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85" name="Google Shape;185;p28">
            <a:extLst xmlns:a="http://schemas.openxmlformats.org/drawingml/2006/main">
              <a:ext uri="{FF2B5EF4-FFF2-40B4-BE49-F238E27FC236}">
                <a16:creationId xmlns:a16="http://schemas.microsoft.com/office/drawing/2014/main" id="{AA0491CD-E0FA-4BEC-A1DC-DE7FDFD2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950" y="1226925"/>
            <a:ext cx="2535300" cy="105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Validated champion: 0.823 macro AUC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 b="1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Coverage: 670 diseases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 b="1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Value: A transparent shortlist for R&amp;D review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 b="1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80" name="Google Shape;186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600fb1c9e437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75726" y="2472599"/>
            <a:ext cx="135000" cy="16940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7" name="Google Shape;187;p28">
            <a:extLst xmlns:a="http://schemas.openxmlformats.org/drawingml/2006/main">
              <a:ext uri="{FF2B5EF4-FFF2-40B4-BE49-F238E27FC236}">
                <a16:creationId xmlns:a16="http://schemas.microsoft.com/office/drawing/2014/main" id="{87D4E97B-6D85-4274-96B9-D734B0FF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8820" y="821683"/>
            <a:ext cx="213360" cy="198120"/>
          </a:xfrm>
          <a:custGeom xmlns:a="http://schemas.openxmlformats.org/drawingml/2006/main">
            <a:rect l="l" t="t" r="r" b="b"/>
            <a:pathLst>
              <a:path w="266700" h="247650">
                <a:moveTo>
                  <a:pt x="133350" y="0"/>
                </a:moveTo>
                <a:lnTo>
                  <a:pt x="174555" y="83477"/>
                </a:lnTo>
                <a:lnTo>
                  <a:pt x="266700" y="96869"/>
                </a:lnTo>
                <a:lnTo>
                  <a:pt x="200025" y="161858"/>
                </a:lnTo>
                <a:lnTo>
                  <a:pt x="215760" y="253632"/>
                </a:lnTo>
                <a:lnTo>
                  <a:pt x="133350" y="210322"/>
                </a:lnTo>
                <a:lnTo>
                  <a:pt x="50940" y="253632"/>
                </a:lnTo>
                <a:lnTo>
                  <a:pt x="66675" y="161858"/>
                </a:lnTo>
                <a:lnTo>
                  <a:pt x="0" y="96869"/>
                </a:lnTo>
                <a:lnTo>
                  <a:pt x="92145" y="83477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58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88" name="Google Shape;188;p28">
            <a:extLst xmlns:a="http://schemas.openxmlformats.org/drawingml/2006/main">
              <a:ext uri="{FF2B5EF4-FFF2-40B4-BE49-F238E27FC236}">
                <a16:creationId xmlns:a16="http://schemas.microsoft.com/office/drawing/2014/main" id="{46B958F6-BA4A-4FA7-AFDC-CF1EBC7D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0600" y="798722"/>
            <a:ext cx="284700" cy="284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0" name="Google Shape;190;p28">
            <a:extLst xmlns:a="http://schemas.openxmlformats.org/drawingml/2006/main">
              <a:ext uri="{FF2B5EF4-FFF2-40B4-BE49-F238E27FC236}">
                <a16:creationId xmlns:a16="http://schemas.microsoft.com/office/drawing/2014/main" id="{E6FEFD5F-8A98-45F4-89A6-15A17F39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04100" y="945745"/>
            <a:ext cx="47076" cy="37338"/>
          </a:xfrm>
          <a:custGeom xmlns:a="http://schemas.openxmlformats.org/drawingml/2006/main"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1" name="Google Shape;191;p28">
            <a:extLst xmlns:a="http://schemas.openxmlformats.org/drawingml/2006/main">
              <a:ext uri="{FF2B5EF4-FFF2-40B4-BE49-F238E27FC236}">
                <a16:creationId xmlns:a16="http://schemas.microsoft.com/office/drawing/2014/main" id="{9B12ACBF-35BE-4CD0-AB7A-1BC52842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74677" y="903740"/>
            <a:ext cx="176536" cy="107347"/>
          </a:xfrm>
          <a:custGeom xmlns:a="http://schemas.openxmlformats.org/drawingml/2006/main">
            <a:rect l="l" t="t" r="r" b="b"/>
            <a:pathLst>
              <a:path w="285750" h="219075">
                <a:moveTo>
                  <a:pt x="171450" y="0"/>
                </a:moveTo>
                <a:lnTo>
                  <a:pt x="285750" y="0"/>
                </a:lnTo>
                <a:lnTo>
                  <a:pt x="285750" y="219075"/>
                </a:lnTo>
                <a:lnTo>
                  <a:pt x="0" y="2190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2" name="Google Shape;192;p28">
            <a:extLst xmlns:a="http://schemas.openxmlformats.org/drawingml/2006/main">
              <a:ext uri="{FF2B5EF4-FFF2-40B4-BE49-F238E27FC236}">
                <a16:creationId xmlns:a16="http://schemas.microsoft.com/office/drawing/2014/main" id="{E09BF610-EF0B-4A02-B4F7-E7D19270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45291" y="871069"/>
            <a:ext cx="35307" cy="46672"/>
          </a:xfrm>
          <a:custGeom xmlns:a="http://schemas.openxmlformats.org/drawingml/2006/main">
            <a:rect l="l" t="t" r="r" b="b"/>
            <a:pathLst>
              <a:path w="57150" h="95250">
                <a:moveTo>
                  <a:pt x="57150" y="95250"/>
                </a:moveTo>
                <a:lnTo>
                  <a:pt x="0" y="95250"/>
                </a:lnTo>
                <a:lnTo>
                  <a:pt x="0" y="28575"/>
                </a:lnTo>
                <a:cubicBezTo>
                  <a:pt x="0" y="12792"/>
                  <a:pt x="12792" y="0"/>
                  <a:pt x="28575" y="0"/>
                </a:cubicBezTo>
                <a:lnTo>
                  <a:pt x="28575" y="0"/>
                </a:lnTo>
                <a:cubicBezTo>
                  <a:pt x="44358" y="0"/>
                  <a:pt x="57150" y="12792"/>
                  <a:pt x="57150" y="28575"/>
                </a:cubicBezTo>
                <a:lnTo>
                  <a:pt x="57150" y="95250"/>
                </a:lnTo>
                <a:close/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3" name="Google Shape;193;p28">
            <a:extLst xmlns:a="http://schemas.openxmlformats.org/drawingml/2006/main">
              <a:ext uri="{FF2B5EF4-FFF2-40B4-BE49-F238E27FC236}">
                <a16:creationId xmlns:a16="http://schemas.microsoft.com/office/drawing/2014/main" id="{B66EFBFD-1819-414A-9ED4-90826111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74714" y="950413"/>
            <a:ext cx="47076" cy="4704"/>
          </a:xfrm>
          <a:custGeom xmlns:a="http://schemas.openxmlformats.org/drawingml/2006/main">
            <a:rect l="l" t="t" r="r" b="b"/>
            <a:pathLst>
              <a:path w="76200" h="120000">
                <a:moveTo>
                  <a:pt x="0" y="0"/>
                </a:moveTo>
                <a:lnTo>
                  <a:pt x="76200" y="0"/>
                </a:lnTo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4" name="Google Shape;194;p28">
            <a:extLst xmlns:a="http://schemas.openxmlformats.org/drawingml/2006/main">
              <a:ext uri="{FF2B5EF4-FFF2-40B4-BE49-F238E27FC236}">
                <a16:creationId xmlns:a16="http://schemas.microsoft.com/office/drawing/2014/main" id="{3584E147-6CDE-43F6-B82B-5E60F6D5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74714" y="978416"/>
            <a:ext cx="47076" cy="4704"/>
          </a:xfrm>
          <a:custGeom xmlns:a="http://schemas.openxmlformats.org/drawingml/2006/main">
            <a:rect l="l" t="t" r="r" b="b"/>
            <a:pathLst>
              <a:path w="76200" h="120000">
                <a:moveTo>
                  <a:pt x="0" y="0"/>
                </a:moveTo>
                <a:lnTo>
                  <a:pt x="76200" y="0"/>
                </a:lnTo>
              </a:path>
            </a:pathLst>
          </a:custGeom>
          <a:solidFill xmlns:a="http://schemas.openxmlformats.org/drawingml/2006/main">
            <a:schemeClr val="accent6"/>
          </a:solidFill>
          <a:ln xmlns:a="http://schemas.openxmlformats.org/drawingml/2006/main"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1C34"/>
              </a:solidFill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95" name="Google Shape;195;p28">
            <a:extLst xmlns:a="http://schemas.openxmlformats.org/drawingml/2006/main">
              <a:ext uri="{FF2B5EF4-FFF2-40B4-BE49-F238E27FC236}">
                <a16:creationId xmlns:a16="http://schemas.microsoft.com/office/drawing/2014/main" id="{15FA0FFA-C67D-4508-81E1-D772C4C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60" y="306775"/>
            <a:ext cx="750060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chemeClr val="lt1"/>
                </a:solidFill>
                <a:latin typeface="Spectral"/>
                <a:ea typeface="Spectral"/>
                <a:cs typeface="Spectral"/>
              </a:rPr>
              <a:t>Part 2 | Prioritizer</a:t>
            </a:r>
            <a:endParaRPr sz="800" b="1">
              <a:solidFill>
                <a:schemeClr val="dk2"/>
              </a:solidFill>
              <a:latin typeface="Spectral"/>
              <a:ea typeface="Spectral"/>
              <a:cs typeface="Spectral"/>
            </a:endParaRPr>
          </a:p>
        </p:txBody>
      </p:sp>
      <p:pic>
        <p:nvPicPr>
          <p:cNvPr id="289" name="Google Shape;196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671b04ffb454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7563" y="2886300"/>
            <a:ext cx="2555663" cy="17165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cxnSp>
        <p:nvCxnSpPr>
          <p:cNvPr id="290" name="Google Shape;197;p28"/>
          <p:cNvCxnSpPr>
            <a:stCxn xmlns:a="http://schemas.openxmlformats.org/drawingml/2006/main" id="198" idx="3"/>
          </p:cNvCxnSpPr>
          <p:nvPr/>
        </p:nvCxnSpPr>
        <p:spPr>
          <a:xfrm xmlns:a="http://schemas.openxmlformats.org/drawingml/2006/main" rot="10800000" flipH="1">
            <a:off x="2283275" y="3621050"/>
            <a:ext cx="823800" cy="62280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9525" cap="flat">
            <a:solidFill>
              <a:srgbClr val="00B2A9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91" name="Google Shape;199;p28"/>
          <p:cNvCxnSpPr>
            <a:stCxn xmlns:a="http://schemas.openxmlformats.org/drawingml/2006/main" id="200" idx="3"/>
          </p:cNvCxnSpPr>
          <p:nvPr/>
        </p:nvCxnSpPr>
        <p:spPr>
          <a:xfrm xmlns:a="http://schemas.openxmlformats.org/drawingml/2006/main">
            <a:off x="2283600" y="3329000"/>
            <a:ext cx="823500" cy="29190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9525" cap="flat">
            <a:solidFill>
              <a:srgbClr val="00B2A9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201" name="Google Shape;201;p28">
            <a:extLst xmlns:a="http://schemas.openxmlformats.org/drawingml/2006/main">
              <a:ext uri="{FF2B5EF4-FFF2-40B4-BE49-F238E27FC236}">
                <a16:creationId xmlns:a16="http://schemas.microsoft.com/office/drawing/2014/main" id="{1EA2A572-126E-4023-9AEE-8F74757D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50" y="2380300"/>
            <a:ext cx="2098200" cy="551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Start with a shared evidence base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93" name="Google Shape;202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600fb1c9e437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5566" y="2487049"/>
            <a:ext cx="135000" cy="16940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3" name="Google Shape;203;p28">
            <a:extLst xmlns:a="http://schemas.openxmlformats.org/drawingml/2006/main">
              <a:ext uri="{FF2B5EF4-FFF2-40B4-BE49-F238E27FC236}">
                <a16:creationId xmlns:a16="http://schemas.microsoft.com/office/drawing/2014/main" id="{56E5D595-45C4-4CEE-8853-EDC7A99A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49" y="4429700"/>
            <a:ext cx="2007000" cy="32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00" name="Google Shape;200;p28">
            <a:extLst xmlns:a="http://schemas.openxmlformats.org/drawingml/2006/main">
              <a:ext uri="{FF2B5EF4-FFF2-40B4-BE49-F238E27FC236}">
                <a16:creationId xmlns:a16="http://schemas.microsoft.com/office/drawing/2014/main" id="{81B29718-B0DF-4AAD-86B0-A9C56F28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0" y="2886650"/>
            <a:ext cx="1549800" cy="884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136801" lvl="0" indent="-14355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-"/>
            </a:pPr>
            <a:r>
              <a:rPr sz="9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Graph-derived
features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98" name="Google Shape;198;p28">
            <a:extLst xmlns:a="http://schemas.openxmlformats.org/drawingml/2006/main">
              <a:ext uri="{FF2B5EF4-FFF2-40B4-BE49-F238E27FC236}">
                <a16:creationId xmlns:a16="http://schemas.microsoft.com/office/drawing/2014/main" id="{767E648D-4C6D-4F4B-9411-F57983B4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75" y="3904550"/>
            <a:ext cx="1549800" cy="67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136801" lvl="0" indent="-14355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-"/>
            </a:pPr>
            <a:r>
              <a:rPr sz="9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Business and
scientist filters</a:t>
            </a:r>
            <a:endParaRPr sz="90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97" name="Google Shape;204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fc43314695489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550" y="3088450"/>
            <a:ext cx="213350" cy="21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98" name="Google Shape;205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79f619d5a488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550" y="3340325"/>
            <a:ext cx="213350" cy="21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99" name="Google Shape;206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1f9787ab2419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550" y="4138850"/>
            <a:ext cx="213350" cy="21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00" name="Google Shape;207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d65a5cb9b440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2408" y="2886300"/>
            <a:ext cx="2292901" cy="1708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09554210"/>
      </p:ext>
    </p:extLst>
  </p:cSld>
</p:sld>
</file>

<file path=ppt/theme/theme1.xml><?xml version="1.0" encoding="utf-8"?>
<a:theme xmlns:a="http://schemas.openxmlformats.org/drawingml/2006/main" name="Dataiku Company Template 2026">
  <a:themeElements>
    <a:clrScheme name="Simple Light">
      <a:dk1>
        <a:srgbClr val="1A1A1A"/>
      </a:dk1>
      <a:lt1>
        <a:srgbClr val="FFFFFF"/>
      </a:lt1>
      <a:dk2>
        <a:srgbClr val="3EDAB2"/>
      </a:dk2>
      <a:lt2>
        <a:srgbClr val="06312E"/>
      </a:lt2>
      <a:accent1>
        <a:srgbClr val="F8F4E4"/>
      </a:accent1>
      <a:accent2>
        <a:srgbClr val="C7FFF1"/>
      </a:accent2>
      <a:accent3>
        <a:srgbClr val="7092F2"/>
      </a:accent3>
      <a:accent4>
        <a:srgbClr val="EDAB4F"/>
      </a:accent4>
      <a:accent5>
        <a:srgbClr val="C6D4FA"/>
      </a:accent5>
      <a:accent6>
        <a:srgbClr val="F8DDB9"/>
      </a:accent6>
      <a:hlink>
        <a:srgbClr val="3EDA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2026-08-24T15:54:56.8730000Z</dcterms:created>
  <dcterms:modified xsi:type="dcterms:W3CDTF">2026-08-24T15:54:56.8730000Z</dcterms:modified>
</coreProperties>
</file>