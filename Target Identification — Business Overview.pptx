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dat" ContentType="application/x-fontdata"/>
  <Default Extension="gif" ContentType="image/gif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db0cbc98e9341c7" /><Relationship Type="http://schemas.openxmlformats.org/officeDocument/2006/relationships/extended-properties" Target="/docProps/app.xml" Id="R839f9818d2404791" /><Relationship Type="http://schemas.openxmlformats.org/officeDocument/2006/relationships/officeDocument" Target="/ppt/presentation.xml" Id="Rce7d00b0bcc249fd" /></Relationships>
</file>

<file path=ppt/presentation.xml><?xml version="1.0" encoding="utf-8"?>
<p:presentation xmlns:p="http://schemas.openxmlformats.org/presentationml/2006/main" embedTrueTypeFonts="1" saveSubsetFonts="0">
  <p:sldMasterIdLst>
    <p:sldMasterId xmlns:r="http://schemas.openxmlformats.org/officeDocument/2006/relationships" id="2147483648" r:id="R15dfa63cbe4a4e27"/>
  </p:sldMasterIdLst>
  <p:notesMasterIdLst>
    <p:notesMasterId xmlns:r="http://schemas.openxmlformats.org/officeDocument/2006/relationships" r:id="R706693e7d8174cab"/>
  </p:notesMasterIdLst>
  <p:sldIdLst>
    <p:sldId xmlns:r="http://schemas.openxmlformats.org/officeDocument/2006/relationships" id="256" r:id="R34a55eaeac9a492c"/>
    <p:sldId xmlns:r="http://schemas.openxmlformats.org/officeDocument/2006/relationships" id="257" r:id="Rc31ca7aac3894964"/>
  </p:sldIdLst>
  <p:sldSz cx="9144000" cy="5143500"/>
  <p:notesSz cx="6858000" cy="9144000"/>
  <p:embeddedFontLst>
    <p:embeddedFont>
      <p:font typeface="Roboto Mono Medium"/>
      <p:regular xmlns:r="http://schemas.openxmlformats.org/officeDocument/2006/relationships" r:id="R559198a3fa374382"/>
      <p:bold xmlns:r="http://schemas.openxmlformats.org/officeDocument/2006/relationships" r:id="Ra7f05f9aeba14b21"/>
      <p:italic xmlns:r="http://schemas.openxmlformats.org/officeDocument/2006/relationships" r:id="R5ca7de5bdd2f45b9"/>
      <p:boldItalic xmlns:r="http://schemas.openxmlformats.org/officeDocument/2006/relationships" r:id="Re9271758816947c9"/>
    </p:embeddedFont>
    <p:embeddedFont>
      <p:font typeface="Roboto"/>
      <p:regular xmlns:r="http://schemas.openxmlformats.org/officeDocument/2006/relationships" r:id="R9abe6797f65f46a2"/>
      <p:bold xmlns:r="http://schemas.openxmlformats.org/officeDocument/2006/relationships" r:id="R241ce4463e9e44c3"/>
      <p:italic xmlns:r="http://schemas.openxmlformats.org/officeDocument/2006/relationships" r:id="R447b9eaff5fe4678"/>
      <p:boldItalic xmlns:r="http://schemas.openxmlformats.org/officeDocument/2006/relationships" r:id="R18129866c57441ff"/>
    </p:embeddedFont>
    <p:embeddedFont>
      <p:font typeface="Roboto Condensed"/>
      <p:regular xmlns:r="http://schemas.openxmlformats.org/officeDocument/2006/relationships" r:id="Re031fcb2e72e4cf0"/>
      <p:bold xmlns:r="http://schemas.openxmlformats.org/officeDocument/2006/relationships" r:id="R7d3e46feb08344b6"/>
      <p:italic xmlns:r="http://schemas.openxmlformats.org/officeDocument/2006/relationships" r:id="R9e00e771db444f47"/>
      <p:boldItalic xmlns:r="http://schemas.openxmlformats.org/officeDocument/2006/relationships" r:id="Rf8dfe5f71dd14294"/>
    </p:embeddedFont>
    <p:embeddedFont>
      <p:font typeface="Spectral"/>
      <p:regular xmlns:r="http://schemas.openxmlformats.org/officeDocument/2006/relationships" r:id="Rd4dfa8416db745c9"/>
      <p:bold xmlns:r="http://schemas.openxmlformats.org/officeDocument/2006/relationships" r:id="Rf6decf11a5f4475a"/>
      <p:italic xmlns:r="http://schemas.openxmlformats.org/officeDocument/2006/relationships" r:id="Re5780c3ba68e45ad"/>
      <p:boldItalic xmlns:r="http://schemas.openxmlformats.org/officeDocument/2006/relationships" r:id="R07f33264214b4b4a"/>
    </p:embeddedFont>
    <p:embeddedFont>
      <p:font typeface="Roboto Light"/>
      <p:regular xmlns:r="http://schemas.openxmlformats.org/officeDocument/2006/relationships" r:id="Ree22bda09d1549be"/>
      <p:bold xmlns:r="http://schemas.openxmlformats.org/officeDocument/2006/relationships" r:id="R2ac8bfbc13694e22"/>
      <p:italic xmlns:r="http://schemas.openxmlformats.org/officeDocument/2006/relationships" r:id="R93d1abef1a7e4ab9"/>
      <p:boldItalic xmlns:r="http://schemas.openxmlformats.org/officeDocument/2006/relationships" r:id="R45f0449fb6ea4dbb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9570c9a961c4154" /><Relationship Type="http://schemas.openxmlformats.org/officeDocument/2006/relationships/slideMaster" Target="/ppt/slideMasters/slideMaster1.xml" Id="R15dfa63cbe4a4e27" /><Relationship Type="http://schemas.openxmlformats.org/officeDocument/2006/relationships/notesMaster" Target="/ppt/notesMasters/notesMaster1.xml" Id="R706693e7d8174cab" /><Relationship Type="http://schemas.openxmlformats.org/officeDocument/2006/relationships/presProps" Target="/ppt/presProps.xml" Id="R2dc89ab2831c42d5" /><Relationship Type="http://schemas.openxmlformats.org/officeDocument/2006/relationships/tableStyles" Target="/ppt/tableStyles.xml" Id="Rbc6cb56864fe48b3" /><Relationship Type="http://schemas.openxmlformats.org/officeDocument/2006/relationships/font" Target="/ppt/fonts/font.dat" Id="R559198a3fa374382" /><Relationship Type="http://schemas.openxmlformats.org/officeDocument/2006/relationships/font" Target="/ppt/fonts/font2.dat" Id="Ra7f05f9aeba14b21" /><Relationship Type="http://schemas.openxmlformats.org/officeDocument/2006/relationships/font" Target="/ppt/fonts/font3.dat" Id="R5ca7de5bdd2f45b9" /><Relationship Type="http://schemas.openxmlformats.org/officeDocument/2006/relationships/font" Target="/ppt/fonts/font4.dat" Id="Re9271758816947c9" /><Relationship Type="http://schemas.openxmlformats.org/officeDocument/2006/relationships/font" Target="/ppt/fonts/font5.dat" Id="R9abe6797f65f46a2" /><Relationship Type="http://schemas.openxmlformats.org/officeDocument/2006/relationships/font" Target="/ppt/fonts/font6.dat" Id="R241ce4463e9e44c3" /><Relationship Type="http://schemas.openxmlformats.org/officeDocument/2006/relationships/font" Target="/ppt/fonts/font7.dat" Id="R447b9eaff5fe4678" /><Relationship Type="http://schemas.openxmlformats.org/officeDocument/2006/relationships/font" Target="/ppt/fonts/font8.dat" Id="R18129866c57441ff" /><Relationship Type="http://schemas.openxmlformats.org/officeDocument/2006/relationships/font" Target="/ppt/fonts/font9.dat" Id="Re031fcb2e72e4cf0" /><Relationship Type="http://schemas.openxmlformats.org/officeDocument/2006/relationships/font" Target="/ppt/fonts/font10.dat" Id="R7d3e46feb08344b6" /><Relationship Type="http://schemas.openxmlformats.org/officeDocument/2006/relationships/font" Target="/ppt/fonts/font11.dat" Id="R9e00e771db444f47" /><Relationship Type="http://schemas.openxmlformats.org/officeDocument/2006/relationships/font" Target="/ppt/fonts/font12.dat" Id="Rf8dfe5f71dd14294" /><Relationship Type="http://schemas.openxmlformats.org/officeDocument/2006/relationships/font" Target="/ppt/fonts/font13.dat" Id="Rd4dfa8416db745c9" /><Relationship Type="http://schemas.openxmlformats.org/officeDocument/2006/relationships/font" Target="/ppt/fonts/font14.dat" Id="Rf6decf11a5f4475a" /><Relationship Type="http://schemas.openxmlformats.org/officeDocument/2006/relationships/font" Target="/ppt/fonts/font15.dat" Id="Re5780c3ba68e45ad" /><Relationship Type="http://schemas.openxmlformats.org/officeDocument/2006/relationships/font" Target="/ppt/fonts/font16.dat" Id="R07f33264214b4b4a" /><Relationship Type="http://schemas.openxmlformats.org/officeDocument/2006/relationships/font" Target="/ppt/fonts/font17.dat" Id="Ree22bda09d1549be" /><Relationship Type="http://schemas.openxmlformats.org/officeDocument/2006/relationships/font" Target="/ppt/fonts/font18.dat" Id="R2ac8bfbc13694e22" /><Relationship Type="http://schemas.openxmlformats.org/officeDocument/2006/relationships/font" Target="/ppt/fonts/font19.dat" Id="R93d1abef1a7e4ab9" /><Relationship Type="http://schemas.openxmlformats.org/officeDocument/2006/relationships/font" Target="/ppt/fonts/font20.dat" Id="R45f0449fb6ea4dbb" /><Relationship Type="http://schemas.openxmlformats.org/officeDocument/2006/relationships/slide" Target="/ppt/slides/slide1.xml" Id="R34a55eaeac9a492c" /><Relationship Type="http://schemas.openxmlformats.org/officeDocument/2006/relationships/slide" Target="/ppt/slides/slide2.xml" Id="Rc31ca7aac389496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fe7f5ca7ab422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Dataiku Company Template 2026">
  <a:themeElements>
    <a:clrScheme name="Simple Light">
      <a:dk1>
        <a:srgbClr val="1A1A1A"/>
      </a:dk1>
      <a:lt1>
        <a:srgbClr val="FFFFFF"/>
      </a:lt1>
      <a:dk2>
        <a:srgbClr val="3EDAB2"/>
      </a:dk2>
      <a:lt2>
        <a:srgbClr val="06312E"/>
      </a:lt2>
      <a:accent1>
        <a:srgbClr val="F8F4E4"/>
      </a:accent1>
      <a:accent2>
        <a:srgbClr val="C7FFF1"/>
      </a:accent2>
      <a:accent3>
        <a:srgbClr val="7092F2"/>
      </a:accent3>
      <a:accent4>
        <a:srgbClr val="EDAB4F"/>
      </a:accent4>
      <a:accent5>
        <a:srgbClr val="C6D4FA"/>
      </a:accent5>
      <a:accent6>
        <a:srgbClr val="F8DDB9"/>
      </a:accent6>
      <a:hlink>
        <a:srgbClr val="3EDA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c57302d50e435d" /><Relationship Type="http://schemas.openxmlformats.org/officeDocument/2006/relationships/notesMaster" Target="/ppt/notesMasters/notesMaster1.xml" Id="Re05572f186fa44b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d9785ebc5f7442d" /><Relationship Type="http://schemas.openxmlformats.org/officeDocument/2006/relationships/notesMaster" Target="/ppt/notesMasters/notesMaster1.xml" Id="Ra2a94154b4094d7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[Sources]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- docs/overview/PROJECT_CONTEXT.md §1, §4.1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- docs/graph/GRAPH_BUILDING.md §7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Business framing: the graph is a governed, queryable evidence foundation—not an end in itself.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[Sources]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- docs/overview/PROJECT_CONTEXT.md §4.2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- docs/demo/DEMO_NARRATIVE.md, one-page version and Q1–Q5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- .index/models.tsv (champion m7-f14)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>The 0.823 figure is macro per-disease AUC; it is not a pooled metric. The slide intentionally does not claim a safety capability.</a:t>
            </a:r>
            <a:endParaRPr sz="10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2092697dca4245" /><Relationship Type="http://schemas.openxmlformats.org/officeDocument/2006/relationships/image" Target="/ppt/media/image.png" Id="Rba4f639f7071441f" /><Relationship Type="http://schemas.openxmlformats.org/officeDocument/2006/relationships/image" Target="/ppt/media/image2.png" Id="R0f8fdc946cea480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2900d6bd9e4cd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a448b01e91470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65cc7d3ee5d416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105ae15a284fd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89fd8c828843cb" /><Relationship Type="http://schemas.openxmlformats.org/officeDocument/2006/relationships/image" Target="/ppt/media/image.png" Id="R38e2ec5b443347e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c9fe6709af4750" /><Relationship Type="http://schemas.openxmlformats.org/officeDocument/2006/relationships/image" Target="/ppt/media/image3.png" Id="Re1011a8a89a84342" /><Relationship Type="http://schemas.openxmlformats.org/officeDocument/2006/relationships/image" Target="/ppt/media/image4.png" Id="R991e94b255974f68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64b45543ff4e71" /><Relationship Type="http://schemas.openxmlformats.org/officeDocument/2006/relationships/image" Target="/ppt/media/image.png" Id="Rad5e888964234bd1" /><Relationship Type="http://schemas.openxmlformats.org/officeDocument/2006/relationships/image" Target="/ppt/media/image2.png" Id="Re0a1437579b54ba6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185220877ab42ff" /><Relationship Type="http://schemas.openxmlformats.org/officeDocument/2006/relationships/image" Target="/ppt/media/image3.png" Id="R26d0e6217f084521" /><Relationship Type="http://schemas.openxmlformats.org/officeDocument/2006/relationships/image" Target="/ppt/media/image4.png" Id="R95b0ddd20a2b4d68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33e1610ee414ba5" /><Relationship Type="http://schemas.openxmlformats.org/officeDocument/2006/relationships/image" Target="/ppt/media/image5.png" Id="R0aff39735e1f4adb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d3f327be5374455" /><Relationship Type="http://schemas.openxmlformats.org/officeDocument/2006/relationships/image" Target="/ppt/media/image6.png" Id="R98b718f5812446b1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9b7b83ab9ae4046" /><Relationship Type="http://schemas.openxmlformats.org/officeDocument/2006/relationships/image" Target="/ppt/media/image5.png" Id="R615516fe3e3849aa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0f7f8011f74143" /><Relationship Type="http://schemas.openxmlformats.org/officeDocument/2006/relationships/image" Target="/ppt/media/image6.png" Id="Rc82846187bcc4213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b882d4eb1c403f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90e76f986b45e5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230310e82334a71" /></Relationships>
</file>

<file path=ppt/slideLayouts/_rels/slideLayout1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84b27909984781" /></Relationships>
</file>

<file path=ppt/slideLayouts/_rels/slideLayout1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5f30bf962c4627" /></Relationships>
</file>

<file path=ppt/slideLayouts/_rels/slideLayout1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53cee9dbaf4f71" /></Relationships>
</file>

<file path=ppt/slideLayouts/_rels/slideLayout2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f10fe7311a549a7" /></Relationships>
</file>

<file path=ppt/slideLayouts/_rels/slideLayout2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d06611c49664d6d" /></Relationships>
</file>

<file path=ppt/slideLayouts/_rels/slideLayout2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259efa2a2564811" /></Relationships>
</file>

<file path=ppt/slideLayouts/_rels/slideLayout2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b18abd2b8a4537" /></Relationships>
</file>

<file path=ppt/slideLayouts/_rels/slideLayout2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49a9d82af54997" /><Relationship Type="http://schemas.openxmlformats.org/officeDocument/2006/relationships/image" Target="/ppt/media/image.png" Id="R66fa0335604b4c3d" /><Relationship Type="http://schemas.openxmlformats.org/officeDocument/2006/relationships/image" Target="/ppt/media/image7.png" Id="Rab7acbcc8d584cf9" /></Relationships>
</file>

<file path=ppt/slideLayouts/_rels/slideLayout2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40e7801a0c4a7a" /></Relationships>
</file>

<file path=ppt/slideLayouts/_rels/slideLayout2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1c42347bb0e4e24" /></Relationships>
</file>

<file path=ppt/slideLayouts/slideLayout1.xml><?xml version="1.0" encoding="utf-8"?>
<p:sldLayout xmlns:p="http://schemas.openxmlformats.org/presentationml/2006/main" matchingName="2 - Prez Cover">
  <p:cSld name="CUSTOM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 Shape;10;p2">
            <a:extLst xmlns:a="http://schemas.openxmlformats.org/drawingml/2006/main">
              <a:ext uri="{FF2B5EF4-FFF2-40B4-BE49-F238E27FC236}">
                <a16:creationId xmlns:a16="http://schemas.microsoft.com/office/drawing/2014/main" id="{3BEF0FE2-FD1A-4346-AEBD-3338714B4D5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763901"/>
            <a:ext cx="6506100" cy="18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" name="Google Shape;11;p2">
            <a:extLst xmlns:a="http://schemas.openxmlformats.org/drawingml/2006/main">
              <a:ext uri="{FF2B5EF4-FFF2-40B4-BE49-F238E27FC236}">
                <a16:creationId xmlns:a16="http://schemas.microsoft.com/office/drawing/2014/main" id="{424AD6CA-B151-4BAB-BC8A-4B0F17391E7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2785907"/>
            <a:ext cx="65061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12" name="Google Shape;12;p2">
            <a:extLst xmlns:a="http://schemas.openxmlformats.org/drawingml/2006/main">
              <a:ext uri="{FF2B5EF4-FFF2-40B4-BE49-F238E27FC236}">
                <a16:creationId xmlns:a16="http://schemas.microsoft.com/office/drawing/2014/main" id="{736BC6B1-5906-4A22-854E-690A7909E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FFFFFF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7" name="Google Shape;13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ba4f639f7071441f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0000" y="291600"/>
            <a:ext cx="1024799" cy="21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28" name="Google Shape;14;p2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29" name="Google Shape;15;p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f8fdc946cea480f">
            <a:alphaModFix/>
          </a:blip>
          <a:srcRect xmlns:a="http://schemas.openxmlformats.org/drawingml/2006/main" l="0" t="1980" r="16318" b="12286"/>
          <a:stretch xmlns:a="http://schemas.openxmlformats.org/drawingml/2006/main"/>
        </p:blipFill>
        <p:spPr>
          <a:xfrm xmlns:a="http://schemas.openxmlformats.org/drawingml/2006/main">
            <a:off x="6722975" y="2663025"/>
            <a:ext cx="2421023" cy="24804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2.xml><?xml version="1.0" encoding="utf-8"?>
<p:sldLayout xmlns:p="http://schemas.openxmlformats.org/presentationml/2006/main" matchingName="4 - Side_Dark">
  <p:cSld name="CUSTOM_3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oogle Shape;17;p3">
            <a:extLst xmlns:a="http://schemas.openxmlformats.org/drawingml/2006/main">
              <a:ext uri="{FF2B5EF4-FFF2-40B4-BE49-F238E27FC236}">
                <a16:creationId xmlns:a16="http://schemas.microsoft.com/office/drawing/2014/main" id="{99BD2B8B-0E92-498E-88C1-41CD6E2ABE4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1059600"/>
            <a:ext cx="3604200" cy="30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8" name="Google Shape;18;p3">
            <a:extLst xmlns:a="http://schemas.openxmlformats.org/drawingml/2006/main">
              <a:ext uri="{FF2B5EF4-FFF2-40B4-BE49-F238E27FC236}">
                <a16:creationId xmlns:a16="http://schemas.microsoft.com/office/drawing/2014/main" id="{EDBE7E3A-7FB2-4C34-9126-9F8B2316E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matchingName="4 - Basic_Light">
  <p:cSld name="CUSTOM_5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oogle Shape;20;p4">
            <a:extLst xmlns:a="http://schemas.openxmlformats.org/drawingml/2006/main">
              <a:ext uri="{FF2B5EF4-FFF2-40B4-BE49-F238E27FC236}">
                <a16:creationId xmlns:a16="http://schemas.microsoft.com/office/drawing/2014/main" id="{59FEB28F-674B-451C-AB83-F0D6B541C6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21" name="Google Shape;21;p4">
            <a:extLst xmlns:a="http://schemas.openxmlformats.org/drawingml/2006/main">
              <a:ext uri="{FF2B5EF4-FFF2-40B4-BE49-F238E27FC236}">
                <a16:creationId xmlns:a16="http://schemas.microsoft.com/office/drawing/2014/main" id="{4E5092BC-1828-4092-A223-C94077F422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648525"/>
            <a:ext cx="83367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matchingName="0 - Blank" type="title">
  <p:cSld name="TITL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5.xml><?xml version="1.0" encoding="utf-8"?>
<p:sldLayout xmlns:p="http://schemas.openxmlformats.org/presentationml/2006/main" matchingName="0 - Blank_Dark">
  <p:cSld name="TITLE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Google Shape;24;p6">
            <a:extLst xmlns:a="http://schemas.openxmlformats.org/drawingml/2006/main">
              <a:ext uri="{FF2B5EF4-FFF2-40B4-BE49-F238E27FC236}">
                <a16:creationId xmlns:a16="http://schemas.microsoft.com/office/drawing/2014/main" id="{4C235E46-BB58-40A1-943E-57545F725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6.xml><?xml version="1.0" encoding="utf-8"?>
<p:sldLayout xmlns:p="http://schemas.openxmlformats.org/presentationml/2006/main" matchingName="1 - Logo Intro">
  <p:cSld name="CUSTOM_7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7" name="Google Shape;26;p7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38e2ec5b443347e6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033899" y="2272575"/>
            <a:ext cx="2778501" cy="598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7" name="Google Shape;27;p7">
            <a:extLst xmlns:a="http://schemas.openxmlformats.org/drawingml/2006/main">
              <a:ext uri="{FF2B5EF4-FFF2-40B4-BE49-F238E27FC236}">
                <a16:creationId xmlns:a16="http://schemas.microsoft.com/office/drawing/2014/main" id="{551CDE4C-35F0-46CE-A1DB-668F88F51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796" y="4838824"/>
            <a:ext cx="9207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800" b="0" i="0" u="none" cap="none">
                <a:solidFill>
                  <a:srgbClr val="9DAEAD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800" b="0" i="0" u="none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8" name="Google Shape;28;p7">
            <a:extLst xmlns:a="http://schemas.openxmlformats.org/drawingml/2006/main">
              <a:ext uri="{FF2B5EF4-FFF2-40B4-BE49-F238E27FC236}">
                <a16:creationId xmlns:a16="http://schemas.microsoft.com/office/drawing/2014/main" id="{8E7EB13E-1ACF-4AA1-980C-D748E6D69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839" y="4838824"/>
            <a:ext cx="7296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dataiku.com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50" name="Google Shape;29;p7"/>
          <p:cNvCxnSpPr/>
          <p:nvPr/>
        </p:nvCxnSpPr>
        <p:spPr>
          <a:xfrm xmlns:a="http://schemas.openxmlformats.org/drawingml/2006/main">
            <a:off x="2973168" y="4844524"/>
            <a:ext cx="0" cy="11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0" name="Google Shape;30;p7">
            <a:extLst xmlns:a="http://schemas.openxmlformats.org/drawingml/2006/main">
              <a:ext uri="{FF2B5EF4-FFF2-40B4-BE49-F238E27FC236}">
                <a16:creationId xmlns:a16="http://schemas.microsoft.com/office/drawing/2014/main" id="{D4BFEEB9-CEA3-44A6-B4A4-AB0E48AB2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782" y="4838824"/>
            <a:ext cx="11985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9DAEAD"/>
                </a:solidFill>
                <a:latin typeface="Roboto"/>
                <a:ea typeface="Roboto"/>
                <a:cs typeface="Roboto"/>
              </a:rPr>
              <a:t>contact@dataiku.com</a:t>
            </a:r>
            <a:endParaRPr sz="800" b="0" i="0" u="none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52" name="Google Shape;31;p7"/>
          <p:cNvCxnSpPr/>
          <p:nvPr/>
        </p:nvCxnSpPr>
        <p:spPr>
          <a:xfrm xmlns:a="http://schemas.openxmlformats.org/drawingml/2006/main">
            <a:off x="3822111" y="4844524"/>
            <a:ext cx="0" cy="11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53" name="Google Shape;32;p7"/>
          <p:cNvCxnSpPr/>
          <p:nvPr/>
        </p:nvCxnSpPr>
        <p:spPr>
          <a:xfrm xmlns:a="http://schemas.openxmlformats.org/drawingml/2006/main">
            <a:off x="5139954" y="4844524"/>
            <a:ext cx="0" cy="11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33" name="Google Shape;33;p7">
            <a:extLst xmlns:a="http://schemas.openxmlformats.org/drawingml/2006/main">
              <a:ext uri="{FF2B5EF4-FFF2-40B4-BE49-F238E27FC236}">
                <a16:creationId xmlns:a16="http://schemas.microsoft.com/office/drawing/2014/main" id="{880114F4-067E-45A7-A326-5475C4DF7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626" y="4838825"/>
            <a:ext cx="2535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X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4" name="Google Shape;34;p7">
            <a:extLst xmlns:a="http://schemas.openxmlformats.org/drawingml/2006/main">
              <a:ext uri="{FF2B5EF4-FFF2-40B4-BE49-F238E27FC236}">
                <a16:creationId xmlns:a16="http://schemas.microsoft.com/office/drawing/2014/main" id="{A4CA8CA8-1944-4C07-B319-8C9723FC0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824" y="4838825"/>
            <a:ext cx="5373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LinkedIn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5" name="Google Shape;35;p7">
            <a:extLst xmlns:a="http://schemas.openxmlformats.org/drawingml/2006/main">
              <a:ext uri="{FF2B5EF4-FFF2-40B4-BE49-F238E27FC236}">
                <a16:creationId xmlns:a16="http://schemas.microsoft.com/office/drawing/2014/main" id="{21811DCF-EE81-4A33-A5C1-85FE60AF9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21" y="4838825"/>
            <a:ext cx="5373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Youtube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6" name="Google Shape;36;p7">
            <a:extLst xmlns:a="http://schemas.openxmlformats.org/drawingml/2006/main">
              <a:ext uri="{FF2B5EF4-FFF2-40B4-BE49-F238E27FC236}">
                <a16:creationId xmlns:a16="http://schemas.microsoft.com/office/drawing/2014/main" id="{D00B8B51-AE7D-49CE-BECA-9AE03E837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18" y="4838825"/>
            <a:ext cx="5373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Facebook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37" name="Google Shape;37;p7">
            <a:extLst xmlns:a="http://schemas.openxmlformats.org/drawingml/2006/main">
              <a:ext uri="{FF2B5EF4-FFF2-40B4-BE49-F238E27FC236}">
                <a16:creationId xmlns:a16="http://schemas.microsoft.com/office/drawing/2014/main" id="{C09DABFD-5CA2-4D2C-ACE7-87DAFDCAB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850" y="4701875"/>
            <a:ext cx="1134600" cy="35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12E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7.xml><?xml version="1.0" encoding="utf-8"?>
<p:sldLayout xmlns:p="http://schemas.openxmlformats.org/presentationml/2006/main" matchingName="2 - Prez Cover_Light">
  <p:cSld name="CUSTOM_8">
    <p:bg>
      <p:bgPr>
        <a:solidFill xmlns:a="http://schemas.openxmlformats.org/drawingml/2006/main">
          <a:srgbClr val="FE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Google Shape;39;p8">
            <a:extLst xmlns:a="http://schemas.openxmlformats.org/drawingml/2006/main">
              <a:ext uri="{FF2B5EF4-FFF2-40B4-BE49-F238E27FC236}">
                <a16:creationId xmlns:a16="http://schemas.microsoft.com/office/drawing/2014/main" id="{02C2E863-8637-43FC-98B6-52AD61D6A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00" y="0"/>
            <a:ext cx="21657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54" name="Google Shape;40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1011a8a89a84342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0000" y="291600"/>
            <a:ext cx="1024799" cy="21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41" name="Google Shape;41;p8">
            <a:extLst xmlns:a="http://schemas.openxmlformats.org/drawingml/2006/main">
              <a:ext uri="{FF2B5EF4-FFF2-40B4-BE49-F238E27FC236}">
                <a16:creationId xmlns:a16="http://schemas.microsoft.com/office/drawing/2014/main" id="{D5F92D72-5B1C-4186-88AC-DC0627C1C5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763901"/>
            <a:ext cx="6506100" cy="18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 xmlns:a="http://schemas.openxmlformats.org/drawingml/2006/main"/>
        </p:txBody>
      </p:sp>
      <p:sp>
        <p:nvSpPr>
          <p:cNvPr id="42" name="Google Shape;42;p8">
            <a:extLst xmlns:a="http://schemas.openxmlformats.org/drawingml/2006/main">
              <a:ext uri="{FF2B5EF4-FFF2-40B4-BE49-F238E27FC236}">
                <a16:creationId xmlns:a16="http://schemas.microsoft.com/office/drawing/2014/main" id="{0938B2B6-8F88-414A-AF47-F23381902332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2785907"/>
            <a:ext cx="65061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cxnSp>
        <p:nvCxnSpPr>
          <p:cNvPr id="57" name="Google Shape;43;p8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58" name="Google Shape;44;p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91e94b255974f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2462" y="1568661"/>
            <a:ext cx="1497376" cy="20061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8.xml><?xml version="1.0" encoding="utf-8"?>
<p:sldLayout xmlns:p="http://schemas.openxmlformats.org/presentationml/2006/main" matchingName="2 - Prez Cover_Internal">
  <p:cSld name="CUSTOM_8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6" name="Google Shape;46;p9">
            <a:extLst xmlns:a="http://schemas.openxmlformats.org/drawingml/2006/main">
              <a:ext uri="{FF2B5EF4-FFF2-40B4-BE49-F238E27FC236}">
                <a16:creationId xmlns:a16="http://schemas.microsoft.com/office/drawing/2014/main" id="{0A1E3A10-A2DB-47CF-B4D9-C3BFE8CF264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763901"/>
            <a:ext cx="6506100" cy="18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47" name="Google Shape;47;p9">
            <a:extLst xmlns:a="http://schemas.openxmlformats.org/drawingml/2006/main">
              <a:ext uri="{FF2B5EF4-FFF2-40B4-BE49-F238E27FC236}">
                <a16:creationId xmlns:a16="http://schemas.microsoft.com/office/drawing/2014/main" id="{A3D834F5-457A-4A07-A46F-42E5AB6AB09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2785907"/>
            <a:ext cx="65061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48" name="Google Shape;48;p9">
            <a:extLst xmlns:a="http://schemas.openxmlformats.org/drawingml/2006/main">
              <a:ext uri="{FF2B5EF4-FFF2-40B4-BE49-F238E27FC236}">
                <a16:creationId xmlns:a16="http://schemas.microsoft.com/office/drawing/2014/main" id="{0C965DF9-8A69-4A21-AC0F-B274CE6E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FFFFFF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49" name="Google Shape;49;p9">
            <a:extLst xmlns:a="http://schemas.openxmlformats.org/drawingml/2006/main">
              <a:ext uri="{FF2B5EF4-FFF2-40B4-BE49-F238E27FC236}">
                <a16:creationId xmlns:a16="http://schemas.microsoft.com/office/drawing/2014/main" id="{3BA667E8-7F9A-4FE3-8C2A-578857D9E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66" name="Google Shape;50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d5e888964234bd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0000" y="291600"/>
            <a:ext cx="1024799" cy="21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67" name="Google Shape;51;p9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68" name="Google Shape;52;p9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e0a1437579b54ba6">
            <a:alphaModFix/>
          </a:blip>
          <a:srcRect xmlns:a="http://schemas.openxmlformats.org/drawingml/2006/main" l="0" t="1980" r="16318" b="12286"/>
          <a:stretch xmlns:a="http://schemas.openxmlformats.org/drawingml/2006/main"/>
        </p:blipFill>
        <p:spPr>
          <a:xfrm xmlns:a="http://schemas.openxmlformats.org/drawingml/2006/main">
            <a:off x="6722975" y="2663025"/>
            <a:ext cx="2421023" cy="2480476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9.xml><?xml version="1.0" encoding="utf-8"?>
<p:sldLayout xmlns:p="http://schemas.openxmlformats.org/presentationml/2006/main" matchingName="2 - Prez Cover_Light_Internal">
  <p:cSld name="CUSTOM_8_1_1">
    <p:bg>
      <p:bgPr>
        <a:solidFill xmlns:a="http://schemas.openxmlformats.org/drawingml/2006/main">
          <a:srgbClr val="FE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4" name="Google Shape;54;p10">
            <a:extLst xmlns:a="http://schemas.openxmlformats.org/drawingml/2006/main">
              <a:ext uri="{FF2B5EF4-FFF2-40B4-BE49-F238E27FC236}">
                <a16:creationId xmlns:a16="http://schemas.microsoft.com/office/drawing/2014/main" id="{D78661DF-1246-4178-9FBD-4D12D439207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763901"/>
            <a:ext cx="6506100" cy="1835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b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 xmlns:a="http://schemas.openxmlformats.org/drawingml/2006/main"/>
        </p:txBody>
      </p:sp>
      <p:sp>
        <p:nvSpPr>
          <p:cNvPr id="55" name="Google Shape;55;p10">
            <a:extLst xmlns:a="http://schemas.openxmlformats.org/drawingml/2006/main">
              <a:ext uri="{FF2B5EF4-FFF2-40B4-BE49-F238E27FC236}">
                <a16:creationId xmlns:a16="http://schemas.microsoft.com/office/drawing/2014/main" id="{28735A51-1FE0-4D13-8F66-5F203273125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2785907"/>
            <a:ext cx="65061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56" name="Google Shape;56;p10">
            <a:extLst xmlns:a="http://schemas.openxmlformats.org/drawingml/2006/main">
              <a:ext uri="{FF2B5EF4-FFF2-40B4-BE49-F238E27FC236}">
                <a16:creationId xmlns:a16="http://schemas.microsoft.com/office/drawing/2014/main" id="{288AC9CC-8836-4B1E-BAEF-27354CB9B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57" name="Google Shape;57;p10">
            <a:extLst xmlns:a="http://schemas.openxmlformats.org/drawingml/2006/main">
              <a:ext uri="{FF2B5EF4-FFF2-40B4-BE49-F238E27FC236}">
                <a16:creationId xmlns:a16="http://schemas.microsoft.com/office/drawing/2014/main" id="{3BFF5073-D121-42DD-819F-A8A562F61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8300" y="0"/>
            <a:ext cx="21657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74" name="Google Shape;58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26d0e6217f08452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0000" y="291600"/>
            <a:ext cx="1024799" cy="2196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75" name="Google Shape;59;p10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D9D9D9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76" name="Google Shape;60;p10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5b0ddd20a2b4d68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7312462" y="1568661"/>
            <a:ext cx="1497376" cy="200617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</p:cSld>
</p:sldLayout>
</file>

<file path=ppt/slideLayouts/slideLayout10.xml><?xml version="1.0" encoding="utf-8"?>
<p:sldLayout xmlns:p="http://schemas.openxmlformats.org/presentationml/2006/main" matchingName="3 - Chapter title_Dark">
  <p:cSld name="CUSTOM_4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8" name="Google Shape;62;p11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0aff39735e1f4adb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05602" y="4755986"/>
            <a:ext cx="252673" cy="257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63" name="Google Shape;63;p11">
            <a:extLst xmlns:a="http://schemas.openxmlformats.org/drawingml/2006/main">
              <a:ext uri="{FF2B5EF4-FFF2-40B4-BE49-F238E27FC236}">
                <a16:creationId xmlns:a16="http://schemas.microsoft.com/office/drawing/2014/main" id="{4664B241-303D-41BE-9497-653C29B64EF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05600" y="176400"/>
            <a:ext cx="5659500" cy="189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4" name="Google Shape;64;p11">
            <a:extLst xmlns:a="http://schemas.openxmlformats.org/drawingml/2006/main">
              <a:ext uri="{FF2B5EF4-FFF2-40B4-BE49-F238E27FC236}">
                <a16:creationId xmlns:a16="http://schemas.microsoft.com/office/drawing/2014/main" id="{00F17A4C-F51F-463A-AB6D-771D01815E3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76400"/>
            <a:ext cx="1233600" cy="4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444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Spectral"/>
              <a:buChar char="●"/>
              <a:defRPr sz="3400">
                <a:solidFill>
                  <a:schemeClr val="lt1"/>
                </a:solidFill>
                <a:latin typeface="Spectral"/>
                <a:ea typeface="Spectral"/>
                <a:cs typeface="Spectral"/>
              </a:defRPr>
            </a:lvl1pPr>
            <a:lvl2pPr marL="914400" indent="-298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marL="22860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marL="2743200" indent="-2730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6pPr>
            <a:lvl7pPr marL="3200400" indent="-2349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"/>
              <a:buChar char="●"/>
              <a:defRPr>
                <a:solidFill>
                  <a:schemeClr val="lt1"/>
                </a:solidFill>
              </a:defRPr>
            </a:lvl7pPr>
            <a:lvl8pPr marL="36576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Char char="○"/>
              <a:defRPr>
                <a:solidFill>
                  <a:schemeClr val="lt1"/>
                </a:solidFill>
              </a:defRPr>
            </a:lvl8pPr>
            <a:lvl9pPr marL="41148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Char char="■"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65" name="Google Shape;65;p11">
            <a:extLst xmlns:a="http://schemas.openxmlformats.org/drawingml/2006/main">
              <a:ext uri="{FF2B5EF4-FFF2-40B4-BE49-F238E27FC236}">
                <a16:creationId xmlns:a16="http://schemas.microsoft.com/office/drawing/2014/main" id="{8CB4CEFD-AB54-4D61-BB31-A308D909BFB8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505600" y="1872000"/>
            <a:ext cx="56595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66" name="Google Shape;66;p11">
            <a:extLst xmlns:a="http://schemas.openxmlformats.org/drawingml/2006/main">
              <a:ext uri="{FF2B5EF4-FFF2-40B4-BE49-F238E27FC236}">
                <a16:creationId xmlns:a16="http://schemas.microsoft.com/office/drawing/2014/main" id="{0AF1171F-1CDF-4FA7-A4FB-6D979FE59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83" name="Google Shape;67;p11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4" name="Google Shape;68;p11"/>
          <p:cNvCxnSpPr/>
          <p:nvPr/>
        </p:nvCxnSpPr>
        <p:spPr>
          <a:xfrm xmlns:a="http://schemas.openxmlformats.org/drawingml/2006/main">
            <a:off x="2331425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11.xml><?xml version="1.0" encoding="utf-8"?>
<p:sldLayout xmlns:p="http://schemas.openxmlformats.org/presentationml/2006/main" matchingName="3 - Chapter title_Light">
  <p:cSld name="CUSTOM_4_1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4" name="Google Shape;70;p12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98b718f5812446b1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05600" y="4755986"/>
            <a:ext cx="252673" cy="257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71" name="Google Shape;71;p12">
            <a:extLst xmlns:a="http://schemas.openxmlformats.org/drawingml/2006/main">
              <a:ext uri="{FF2B5EF4-FFF2-40B4-BE49-F238E27FC236}">
                <a16:creationId xmlns:a16="http://schemas.microsoft.com/office/drawing/2014/main" id="{3778B485-8688-40AE-9239-D820062613E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05600" y="176400"/>
            <a:ext cx="5659500" cy="189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 xmlns:a="http://schemas.openxmlformats.org/drawingml/2006/main"/>
        </p:txBody>
      </p:sp>
      <p:sp>
        <p:nvSpPr>
          <p:cNvPr id="72" name="Google Shape;72;p12">
            <a:extLst xmlns:a="http://schemas.openxmlformats.org/drawingml/2006/main">
              <a:ext uri="{FF2B5EF4-FFF2-40B4-BE49-F238E27FC236}">
                <a16:creationId xmlns:a16="http://schemas.microsoft.com/office/drawing/2014/main" id="{84356AC5-D804-42BE-8457-A464B79467C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76400"/>
            <a:ext cx="1234800" cy="4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444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Spectral"/>
              <a:buChar char="●"/>
              <a:defRPr sz="3400">
                <a:latin typeface="Spectral"/>
                <a:ea typeface="Spectral"/>
                <a:cs typeface="Spectral"/>
              </a:defRPr>
            </a:lvl1pPr>
            <a:lvl2pPr marL="914400" indent="-298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730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indent="-2349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00"/>
              <a:buChar char="●"/>
              <a:defRPr/>
            </a:lvl7pPr>
            <a:lvl8pPr marL="36576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"/>
              <a:buChar char="○"/>
              <a:defRPr/>
            </a:lvl8pPr>
            <a:lvl9pPr marL="41148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73" name="Google Shape;73;p12">
            <a:extLst xmlns:a="http://schemas.openxmlformats.org/drawingml/2006/main">
              <a:ext uri="{FF2B5EF4-FFF2-40B4-BE49-F238E27FC236}">
                <a16:creationId xmlns:a16="http://schemas.microsoft.com/office/drawing/2014/main" id="{937A7AB7-F199-45EA-B23D-A8A6E634DBDF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505600" y="1872000"/>
            <a:ext cx="56595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cxnSp>
        <p:nvCxnSpPr>
          <p:cNvPr id="88" name="Google Shape;74;p12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89" name="Google Shape;75;p12"/>
          <p:cNvCxnSpPr/>
          <p:nvPr/>
        </p:nvCxnSpPr>
        <p:spPr>
          <a:xfrm xmlns:a="http://schemas.openxmlformats.org/drawingml/2006/main">
            <a:off x="2331425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12.xml><?xml version="1.0" encoding="utf-8"?>
<p:sldLayout xmlns:p="http://schemas.openxmlformats.org/presentationml/2006/main" matchingName="3 - Chapter title_Dark_Internal">
  <p:cSld name="CUSTOM_4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Google Shape;77;p13">
            <a:extLst xmlns:a="http://schemas.openxmlformats.org/drawingml/2006/main">
              <a:ext uri="{FF2B5EF4-FFF2-40B4-BE49-F238E27FC236}">
                <a16:creationId xmlns:a16="http://schemas.microsoft.com/office/drawing/2014/main" id="{0047637C-37F9-45C6-8F16-782B141B56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05600" y="176400"/>
            <a:ext cx="5659500" cy="189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None/>
              <a:defRPr sz="3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8" name="Google Shape;78;p13">
            <a:extLst xmlns:a="http://schemas.openxmlformats.org/drawingml/2006/main">
              <a:ext uri="{FF2B5EF4-FFF2-40B4-BE49-F238E27FC236}">
                <a16:creationId xmlns:a16="http://schemas.microsoft.com/office/drawing/2014/main" id="{9F38C360-4F32-4B8C-86CE-CB8CFCF5FAF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76400"/>
            <a:ext cx="1234800" cy="4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444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Spectral"/>
              <a:buChar char="●"/>
              <a:defRPr sz="3400">
                <a:solidFill>
                  <a:schemeClr val="lt1"/>
                </a:solidFill>
                <a:latin typeface="Spectral"/>
                <a:ea typeface="Spectral"/>
                <a:cs typeface="Spectral"/>
              </a:defRPr>
            </a:lvl1pPr>
            <a:lvl2pPr marL="914400" indent="-298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3pPr>
            <a:lvl4pPr marL="18288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4pPr>
            <a:lvl5pPr marL="22860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900"/>
              <a:buChar char="○"/>
              <a:defRPr>
                <a:solidFill>
                  <a:schemeClr val="lt1"/>
                </a:solidFill>
              </a:defRPr>
            </a:lvl5pPr>
            <a:lvl6pPr marL="2743200" indent="-2730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6pPr>
            <a:lvl7pPr marL="3200400" indent="-2349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00"/>
              <a:buChar char="●"/>
              <a:defRPr>
                <a:solidFill>
                  <a:schemeClr val="lt1"/>
                </a:solidFill>
              </a:defRPr>
            </a:lvl7pPr>
            <a:lvl8pPr marL="36576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Char char="○"/>
              <a:defRPr>
                <a:solidFill>
                  <a:schemeClr val="lt1"/>
                </a:solidFill>
              </a:defRPr>
            </a:lvl8pPr>
            <a:lvl9pPr marL="41148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"/>
              <a:buChar char="■"/>
              <a:defRPr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79" name="Google Shape;79;p13">
            <a:extLst xmlns:a="http://schemas.openxmlformats.org/drawingml/2006/main">
              <a:ext uri="{FF2B5EF4-FFF2-40B4-BE49-F238E27FC236}">
                <a16:creationId xmlns:a16="http://schemas.microsoft.com/office/drawing/2014/main" id="{2C8543E9-4671-4041-A0D0-F23FB52384A1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505600" y="1872000"/>
            <a:ext cx="56595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Roboto Light"/>
              <a:buNone/>
              <a:defRPr sz="15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pic>
        <p:nvPicPr>
          <p:cNvPr id="98" name="Google Shape;80;p13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15516fe3e3849aa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05602" y="4755986"/>
            <a:ext cx="252673" cy="257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1" name="Google Shape;81;p13">
            <a:extLst xmlns:a="http://schemas.openxmlformats.org/drawingml/2006/main">
              <a:ext uri="{FF2B5EF4-FFF2-40B4-BE49-F238E27FC236}">
                <a16:creationId xmlns:a16="http://schemas.microsoft.com/office/drawing/2014/main" id="{AF39C392-F453-46F1-97F5-9A5029788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82" name="Google Shape;82;p13">
            <a:extLst xmlns:a="http://schemas.openxmlformats.org/drawingml/2006/main">
              <a:ext uri="{FF2B5EF4-FFF2-40B4-BE49-F238E27FC236}">
                <a16:creationId xmlns:a16="http://schemas.microsoft.com/office/drawing/2014/main" id="{54AB04E5-B575-4F2D-81D1-B1DC9B75E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01" name="Google Shape;83;p13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2" name="Google Shape;84;p13"/>
          <p:cNvCxnSpPr/>
          <p:nvPr/>
        </p:nvCxnSpPr>
        <p:spPr>
          <a:xfrm xmlns:a="http://schemas.openxmlformats.org/drawingml/2006/main">
            <a:off x="2331425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13.xml><?xml version="1.0" encoding="utf-8"?>
<p:sldLayout xmlns:p="http://schemas.openxmlformats.org/presentationml/2006/main" matchingName="3 - Chapter title_Light_Internal">
  <p:cSld name="CUSTOM_4_1_1_1">
    <p:bg>
      <p:bgPr>
        <a:solidFill xmlns:a="http://schemas.openxmlformats.org/drawingml/2006/main">
          <a:schemeClr val="accent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2" name="Google Shape;86;p14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c82846187bcc4213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2505602" y="4755986"/>
            <a:ext cx="252673" cy="2575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87" name="Google Shape;87;p14">
            <a:extLst xmlns:a="http://schemas.openxmlformats.org/drawingml/2006/main">
              <a:ext uri="{FF2B5EF4-FFF2-40B4-BE49-F238E27FC236}">
                <a16:creationId xmlns:a16="http://schemas.microsoft.com/office/drawing/2014/main" id="{9AC73D51-2D68-45B7-AB4F-EA7279DE499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505600" y="176400"/>
            <a:ext cx="5659500" cy="189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3400"/>
            </a:lvl9pPr>
          </a:lstStyle>
          <a:p xmlns:a="http://schemas.openxmlformats.org/drawingml/2006/main"/>
        </p:txBody>
      </p:sp>
      <p:sp>
        <p:nvSpPr>
          <p:cNvPr id="88" name="Google Shape;88;p14">
            <a:extLst xmlns:a="http://schemas.openxmlformats.org/drawingml/2006/main">
              <a:ext uri="{FF2B5EF4-FFF2-40B4-BE49-F238E27FC236}">
                <a16:creationId xmlns:a16="http://schemas.microsoft.com/office/drawing/2014/main" id="{2BB2A816-6ACA-42E6-9532-4ABFF940010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60000" y="176400"/>
            <a:ext cx="1234800" cy="47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4445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Font typeface="Spectral"/>
              <a:buChar char="●"/>
              <a:defRPr sz="3400">
                <a:latin typeface="Spectral"/>
                <a:ea typeface="Spectral"/>
                <a:cs typeface="Spectral"/>
              </a:defRPr>
            </a:lvl1pPr>
            <a:lvl2pPr marL="914400" indent="-29845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000"/>
              <a:buChar char="■"/>
              <a:defRPr/>
            </a:lvl3pPr>
            <a:lvl4pPr marL="18288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Char char="●"/>
              <a:defRPr/>
            </a:lvl4pPr>
            <a:lvl5pPr marL="228600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900"/>
              <a:buChar char="○"/>
              <a:defRPr/>
            </a:lvl5pPr>
            <a:lvl6pPr marL="2743200" indent="-2730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700"/>
              <a:buChar char="■"/>
              <a:defRPr/>
            </a:lvl6pPr>
            <a:lvl7pPr marL="3200400" indent="-2349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00"/>
              <a:buChar char="●"/>
              <a:defRPr/>
            </a:lvl7pPr>
            <a:lvl8pPr marL="36576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"/>
              <a:buChar char="○"/>
              <a:defRPr/>
            </a:lvl8pPr>
            <a:lvl9pPr marL="411480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"/>
              <a:buChar char="■"/>
              <a:defRPr/>
            </a:lvl9pPr>
          </a:lstStyle>
          <a:p xmlns:a="http://schemas.openxmlformats.org/drawingml/2006/main"/>
        </p:txBody>
      </p:sp>
      <p:sp>
        <p:nvSpPr>
          <p:cNvPr id="89" name="Google Shape;89;p14">
            <a:extLst xmlns:a="http://schemas.openxmlformats.org/drawingml/2006/main">
              <a:ext uri="{FF2B5EF4-FFF2-40B4-BE49-F238E27FC236}">
                <a16:creationId xmlns:a16="http://schemas.microsoft.com/office/drawing/2014/main" id="{86F1DCF8-59FB-4ECC-9F87-85C5F5581EC0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2505600" y="1872000"/>
            <a:ext cx="5659500" cy="510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500"/>
              <a:buFont typeface="Roboto Light"/>
              <a:buNone/>
              <a:defRPr sz="1500"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90" name="Google Shape;90;p14">
            <a:extLst xmlns:a="http://schemas.openxmlformats.org/drawingml/2006/main">
              <a:ext uri="{FF2B5EF4-FFF2-40B4-BE49-F238E27FC236}">
                <a16:creationId xmlns:a16="http://schemas.microsoft.com/office/drawing/2014/main" id="{A240D40A-7C22-42C2-A752-68F78E2B6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07" name="Google Shape;91;p14"/>
          <p:cNvCxnSpPr/>
          <p:nvPr/>
        </p:nvCxnSpPr>
        <p:spPr>
          <a:xfrm xmlns:a="http://schemas.openxmlformats.org/drawingml/2006/main">
            <a:off x="172800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08" name="Google Shape;92;p14"/>
          <p:cNvCxnSpPr/>
          <p:nvPr/>
        </p:nvCxnSpPr>
        <p:spPr>
          <a:xfrm xmlns:a="http://schemas.openxmlformats.org/drawingml/2006/main">
            <a:off x="2331425" y="291600"/>
            <a:ext cx="0" cy="47220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cxnSp>
    </p:spTree>
  </p:cSld>
</p:sldLayout>
</file>

<file path=ppt/slideLayouts/slideLayout14.xml><?xml version="1.0" encoding="utf-8"?>
<p:sldLayout xmlns:p="http://schemas.openxmlformats.org/presentationml/2006/main" matchingName="4 - Basic_w/o sub_Light">
  <p:cSld name="CUSTOM_5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4" name="Google Shape;94;p15">
            <a:extLst xmlns:a="http://schemas.openxmlformats.org/drawingml/2006/main">
              <a:ext uri="{FF2B5EF4-FFF2-40B4-BE49-F238E27FC236}">
                <a16:creationId xmlns:a16="http://schemas.microsoft.com/office/drawing/2014/main" id="{6863AC5C-8405-444F-9AAA-65B016974B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</p:spTree>
  </p:cSld>
</p:sldLayout>
</file>

<file path=ppt/slideLayouts/slideLayout15.xml><?xml version="1.0" encoding="utf-8"?>
<p:sldLayout xmlns:p="http://schemas.openxmlformats.org/presentationml/2006/main" matchingName="4 - Basic_w/o sub_Dark">
  <p:cSld name="CUSTOM_5_3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6" name="Google Shape;96;p16">
            <a:extLst xmlns:a="http://schemas.openxmlformats.org/drawingml/2006/main">
              <a:ext uri="{FF2B5EF4-FFF2-40B4-BE49-F238E27FC236}">
                <a16:creationId xmlns:a16="http://schemas.microsoft.com/office/drawing/2014/main" id="{EBB4E8D9-E910-4D7F-AB35-267CB10E6A2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97" name="Google Shape;97;p16">
            <a:extLst xmlns:a="http://schemas.openxmlformats.org/drawingml/2006/main">
              <a:ext uri="{FF2B5EF4-FFF2-40B4-BE49-F238E27FC236}">
                <a16:creationId xmlns:a16="http://schemas.microsoft.com/office/drawing/2014/main" id="{7FCA7618-7BB4-49AD-B0DB-6C41CC9C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16.xml><?xml version="1.0" encoding="utf-8"?>
<p:sldLayout xmlns:p="http://schemas.openxmlformats.org/presentationml/2006/main" matchingName="4 - Basic_w/o sub_Light_Internal">
  <p:cSld name="CUSTOM_5_2">
    <p:bg>
      <p:bgPr>
        <a:solidFill xmlns:a="http://schemas.openxmlformats.org/drawingml/2006/main">
          <a:srgbClr val="FE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9" name="Google Shape;99;p17">
            <a:extLst xmlns:a="http://schemas.openxmlformats.org/drawingml/2006/main">
              <a:ext uri="{FF2B5EF4-FFF2-40B4-BE49-F238E27FC236}">
                <a16:creationId xmlns:a16="http://schemas.microsoft.com/office/drawing/2014/main" id="{D84A57F6-BFCF-4D30-BE1D-F6D40EABE77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00" name="Google Shape;100;p17">
            <a:extLst xmlns:a="http://schemas.openxmlformats.org/drawingml/2006/main">
              <a:ext uri="{FF2B5EF4-FFF2-40B4-BE49-F238E27FC236}">
                <a16:creationId xmlns:a16="http://schemas.microsoft.com/office/drawing/2014/main" id="{A143D496-F93A-42F6-967F-F663D8EBE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1A1A1A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rgbClr val="1A1A1A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17.xml><?xml version="1.0" encoding="utf-8"?>
<p:sldLayout xmlns:p="http://schemas.openxmlformats.org/presentationml/2006/main" matchingName="4 - Basic_w/o sub_Dark_Internal">
  <p:cSld name="CUSTOM_5_2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Google Shape;102;p18">
            <a:extLst xmlns:a="http://schemas.openxmlformats.org/drawingml/2006/main">
              <a:ext uri="{FF2B5EF4-FFF2-40B4-BE49-F238E27FC236}">
                <a16:creationId xmlns:a16="http://schemas.microsoft.com/office/drawing/2014/main" id="{DA999D15-B89A-45FC-9149-892FF4085E9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3" name="Google Shape;103;p18">
            <a:extLst xmlns:a="http://schemas.openxmlformats.org/drawingml/2006/main">
              <a:ext uri="{FF2B5EF4-FFF2-40B4-BE49-F238E27FC236}">
                <a16:creationId xmlns:a16="http://schemas.microsoft.com/office/drawing/2014/main" id="{A167FD84-2505-4618-8FFE-99E971536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04" name="Google Shape;104;p18">
            <a:extLst xmlns:a="http://schemas.openxmlformats.org/drawingml/2006/main">
              <a:ext uri="{FF2B5EF4-FFF2-40B4-BE49-F238E27FC236}">
                <a16:creationId xmlns:a16="http://schemas.microsoft.com/office/drawing/2014/main" id="{88FA83A8-6DA9-416D-A9A9-12B63E3FD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18.xml><?xml version="1.0" encoding="utf-8"?>
<p:sldLayout xmlns:p="http://schemas.openxmlformats.org/presentationml/2006/main" matchingName="4 - Basic_Dark">
  <p:cSld name="CUSTOM_5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Google Shape;106;p19">
            <a:extLst xmlns:a="http://schemas.openxmlformats.org/drawingml/2006/main">
              <a:ext uri="{FF2B5EF4-FFF2-40B4-BE49-F238E27FC236}">
                <a16:creationId xmlns:a16="http://schemas.microsoft.com/office/drawing/2014/main" id="{6AC1D878-F9CB-40D6-8E9C-5EC643CBE31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07" name="Google Shape;107;p19">
            <a:extLst xmlns:a="http://schemas.openxmlformats.org/drawingml/2006/main">
              <a:ext uri="{FF2B5EF4-FFF2-40B4-BE49-F238E27FC236}">
                <a16:creationId xmlns:a16="http://schemas.microsoft.com/office/drawing/2014/main" id="{367CD72E-07ED-48BF-9600-00AD639196C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648525"/>
            <a:ext cx="83367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108" name="Google Shape;108;p19">
            <a:extLst xmlns:a="http://schemas.openxmlformats.org/drawingml/2006/main">
              <a:ext uri="{FF2B5EF4-FFF2-40B4-BE49-F238E27FC236}">
                <a16:creationId xmlns:a16="http://schemas.microsoft.com/office/drawing/2014/main" id="{9087246E-EF98-4C13-BBC0-00494B754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19.xml><?xml version="1.0" encoding="utf-8"?>
<p:sldLayout xmlns:p="http://schemas.openxmlformats.org/presentationml/2006/main" matchingName="4 - Basic_Light_Internal">
  <p:cSld name="CUSTOM_5_1_1_1">
    <p:bg>
      <p:bgPr>
        <a:solidFill xmlns:a="http://schemas.openxmlformats.org/drawingml/2006/main">
          <a:srgbClr val="FE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0" name="Google Shape;110;p20">
            <a:extLst xmlns:a="http://schemas.openxmlformats.org/drawingml/2006/main">
              <a:ext uri="{FF2B5EF4-FFF2-40B4-BE49-F238E27FC236}">
                <a16:creationId xmlns:a16="http://schemas.microsoft.com/office/drawing/2014/main" id="{7134D12D-F45F-4FC8-A5FA-17C4E612E05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 xmlns:a="http://schemas.openxmlformats.org/drawingml/2006/main"/>
        </p:txBody>
      </p:sp>
      <p:sp>
        <p:nvSpPr>
          <p:cNvPr id="111" name="Google Shape;111;p20">
            <a:extLst xmlns:a="http://schemas.openxmlformats.org/drawingml/2006/main">
              <a:ext uri="{FF2B5EF4-FFF2-40B4-BE49-F238E27FC236}">
                <a16:creationId xmlns:a16="http://schemas.microsoft.com/office/drawing/2014/main" id="{A46A13AC-F054-4D54-BD82-8B5639DFFA4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648525"/>
            <a:ext cx="83367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Font typeface="Roboto Light"/>
              <a:buNone/>
              <a:defRPr sz="1300"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112" name="Google Shape;112;p20">
            <a:extLst xmlns:a="http://schemas.openxmlformats.org/drawingml/2006/main">
              <a:ext uri="{FF2B5EF4-FFF2-40B4-BE49-F238E27FC236}">
                <a16:creationId xmlns:a16="http://schemas.microsoft.com/office/drawing/2014/main" id="{5D9857DB-2482-4599-8797-63D5E9A8F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rgbClr val="1A1A1A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rgbClr val="1A1A1A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20.xml><?xml version="1.0" encoding="utf-8"?>
<p:sldLayout xmlns:p="http://schemas.openxmlformats.org/presentationml/2006/main" matchingName="4 - Basic_Dark_Internal ">
  <p:cSld name="CUSTOM_5_1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4" name="Google Shape;114;p21">
            <a:extLst xmlns:a="http://schemas.openxmlformats.org/drawingml/2006/main">
              <a:ext uri="{FF2B5EF4-FFF2-40B4-BE49-F238E27FC236}">
                <a16:creationId xmlns:a16="http://schemas.microsoft.com/office/drawing/2014/main" id="{F15314FA-67FA-4BC6-A550-8CEA40CFA7A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229125"/>
            <a:ext cx="83367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15" name="Google Shape;115;p21">
            <a:extLst xmlns:a="http://schemas.openxmlformats.org/drawingml/2006/main">
              <a:ext uri="{FF2B5EF4-FFF2-40B4-BE49-F238E27FC236}">
                <a16:creationId xmlns:a16="http://schemas.microsoft.com/office/drawing/2014/main" id="{F7137563-D7B2-4919-9CD1-9E476B16F5A9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360000" y="648525"/>
            <a:ext cx="8336700" cy="23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>
            <a:lvl1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1pPr>
            <a:lvl2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2pPr>
            <a:lvl3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3pPr>
            <a:lvl4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4pPr>
            <a:lvl5pPr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5pPr>
            <a:lvl6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6pPr>
            <a:lvl7pPr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7pPr>
            <a:lvl8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8pPr>
            <a:lvl9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Roboto Light"/>
              <a:buNone/>
              <a:defRPr sz="1300">
                <a:solidFill>
                  <a:schemeClr val="lt1"/>
                </a:solidFill>
                <a:latin typeface="Roboto Light"/>
                <a:ea typeface="Roboto Light"/>
                <a:cs typeface="Roboto Light"/>
              </a:defRPr>
            </a:lvl9pPr>
          </a:lstStyle>
          <a:p xmlns:a="http://schemas.openxmlformats.org/drawingml/2006/main"/>
        </p:txBody>
      </p:sp>
      <p:sp>
        <p:nvSpPr>
          <p:cNvPr id="116" name="Google Shape;116;p21">
            <a:extLst xmlns:a="http://schemas.openxmlformats.org/drawingml/2006/main">
              <a:ext uri="{FF2B5EF4-FFF2-40B4-BE49-F238E27FC236}">
                <a16:creationId xmlns:a16="http://schemas.microsoft.com/office/drawing/2014/main" id="{2B0C57DE-A1FA-4AEE-9143-B0ED7A5CA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17" name="Google Shape;117;p21">
            <a:extLst xmlns:a="http://schemas.openxmlformats.org/drawingml/2006/main">
              <a:ext uri="{FF2B5EF4-FFF2-40B4-BE49-F238E27FC236}">
                <a16:creationId xmlns:a16="http://schemas.microsoft.com/office/drawing/2014/main" id="{74FC7FB5-7D61-44D5-9DEF-346D699F0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21.xml><?xml version="1.0" encoding="utf-8"?>
<p:sldLayout xmlns:p="http://schemas.openxmlformats.org/presentationml/2006/main" matchingName="4 - Side_Light">
  <p:cSld name="CUSTOM_3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9" name="Google Shape;119;p22">
            <a:extLst xmlns:a="http://schemas.openxmlformats.org/drawingml/2006/main">
              <a:ext uri="{FF2B5EF4-FFF2-40B4-BE49-F238E27FC236}">
                <a16:creationId xmlns:a16="http://schemas.microsoft.com/office/drawing/2014/main" id="{2C201607-1874-4D72-B1CF-792E4D931A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1059600"/>
            <a:ext cx="3604200" cy="30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 xmlns:a="http://schemas.openxmlformats.org/drawingml/2006/main"/>
        </p:txBody>
      </p:sp>
    </p:spTree>
  </p:cSld>
</p:sldLayout>
</file>

<file path=ppt/slideLayouts/slideLayout22.xml><?xml version="1.0" encoding="utf-8"?>
<p:sldLayout xmlns:p="http://schemas.openxmlformats.org/presentationml/2006/main" matchingName="4 - Side_Light_Internal">
  <p:cSld name="CUSTOM_3_1_1">
    <p:bg>
      <p:bgPr>
        <a:solidFill xmlns:a="http://schemas.openxmlformats.org/drawingml/2006/main">
          <a:srgbClr val="FE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1" name="Google Shape;121;p23">
            <a:extLst xmlns:a="http://schemas.openxmlformats.org/drawingml/2006/main">
              <a:ext uri="{FF2B5EF4-FFF2-40B4-BE49-F238E27FC236}">
                <a16:creationId xmlns:a16="http://schemas.microsoft.com/office/drawing/2014/main" id="{000BDA4C-83E6-432B-B586-C7A55BAFDB9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1059600"/>
            <a:ext cx="3604200" cy="30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 xmlns:a="http://schemas.openxmlformats.org/drawingml/2006/main"/>
        </p:txBody>
      </p:sp>
      <p:sp>
        <p:nvSpPr>
          <p:cNvPr id="122" name="Google Shape;122;p23">
            <a:extLst xmlns:a="http://schemas.openxmlformats.org/drawingml/2006/main">
              <a:ext uri="{FF2B5EF4-FFF2-40B4-BE49-F238E27FC236}">
                <a16:creationId xmlns:a16="http://schemas.microsoft.com/office/drawing/2014/main" id="{77F9D880-1B1C-46D7-B45D-6B2D37894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23.xml><?xml version="1.0" encoding="utf-8"?>
<p:sldLayout xmlns:p="http://schemas.openxmlformats.org/presentationml/2006/main" matchingName="4 - Side_Dark_Internal">
  <p:cSld name="CUSTOM_3_1_1_1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4" name="Google Shape;124;p24">
            <a:extLst xmlns:a="http://schemas.openxmlformats.org/drawingml/2006/main">
              <a:ext uri="{FF2B5EF4-FFF2-40B4-BE49-F238E27FC236}">
                <a16:creationId xmlns:a16="http://schemas.microsoft.com/office/drawing/2014/main" id="{A7BA7C3B-1B6E-492B-B9D2-78C46389ACE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60000" y="1059600"/>
            <a:ext cx="3604200" cy="30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no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1pPr>
            <a:lvl2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2pPr>
            <a:lvl3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3pPr>
            <a:lvl4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4pPr>
            <a:lvl5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5pPr>
            <a:lvl6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6pPr>
            <a:lvl7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7pPr>
            <a:lvl8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8pPr>
            <a:lvl9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600"/>
              <a:buNone/>
              <a:defRPr sz="26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25" name="Google Shape;125;p24">
            <a:extLst xmlns:a="http://schemas.openxmlformats.org/drawingml/2006/main">
              <a:ext uri="{FF2B5EF4-FFF2-40B4-BE49-F238E27FC236}">
                <a16:creationId xmlns:a16="http://schemas.microsoft.com/office/drawing/2014/main" id="{F48D593B-F9E7-42EC-AE2E-07839E56F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000" y="4925687"/>
            <a:ext cx="6150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[ Internal Only ]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26" name="Google Shape;126;p24">
            <a:extLst xmlns:a="http://schemas.openxmlformats.org/drawingml/2006/main">
              <a:ext uri="{FF2B5EF4-FFF2-40B4-BE49-F238E27FC236}">
                <a16:creationId xmlns:a16="http://schemas.microsoft.com/office/drawing/2014/main" id="{C0A5CF31-457B-40A8-B52D-CB2D7274F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lt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</p:spTree>
  </p:cSld>
</p:sldLayout>
</file>

<file path=ppt/slideLayouts/slideLayout24.xml><?xml version="1.0" encoding="utf-8"?>
<p:sldLayout xmlns:p="http://schemas.openxmlformats.org/presentationml/2006/main" matchingName="5 - Thank you">
  <p:cSld name="CUSTOM_6"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8" name="Google Shape;128;p25">
            <a:extLst xmlns:a="http://schemas.openxmlformats.org/drawingml/2006/main">
              <a:ext uri="{FF2B5EF4-FFF2-40B4-BE49-F238E27FC236}">
                <a16:creationId xmlns:a16="http://schemas.microsoft.com/office/drawing/2014/main" id="{1E534590-A0DD-4F5E-8696-AD0014C7D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350" y="4700550"/>
            <a:ext cx="983400" cy="443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lt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sz="1400" b="0" i="0" u="none" cap="none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56" name="Google Shape;129;p25"/>
          <p:cNvCxnSpPr/>
          <p:nvPr/>
        </p:nvCxnSpPr>
        <p:spPr>
          <a:xfrm xmlns:a="http://schemas.openxmlformats.org/drawingml/2006/main">
            <a:off x="0" y="4607950"/>
            <a:ext cx="91455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0" name="Google Shape;130;p25">
            <a:extLst xmlns:a="http://schemas.openxmlformats.org/drawingml/2006/main">
              <a:ext uri="{FF2B5EF4-FFF2-40B4-BE49-F238E27FC236}">
                <a16:creationId xmlns:a16="http://schemas.microsoft.com/office/drawing/2014/main" id="{71F3E95A-57D8-4AA4-AC35-A02A7B830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796" y="4838824"/>
            <a:ext cx="9207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Arial"/>
              <a:buNone/>
            </a:pPr>
            <a:r>
              <a:rPr sz="800" b="0" i="0" u="none" cap="none">
                <a:solidFill>
                  <a:srgbClr val="9DAEAD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800" b="0" i="0" u="none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1" name="Google Shape;131;p25">
            <a:extLst xmlns:a="http://schemas.openxmlformats.org/drawingml/2006/main">
              <a:ext uri="{FF2B5EF4-FFF2-40B4-BE49-F238E27FC236}">
                <a16:creationId xmlns:a16="http://schemas.microsoft.com/office/drawing/2014/main" id="{7EF602A7-CE1A-4FEF-B16E-78A0C71A8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839" y="4838824"/>
            <a:ext cx="7296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dataiku.com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59" name="Google Shape;132;p25"/>
          <p:cNvCxnSpPr/>
          <p:nvPr/>
        </p:nvCxnSpPr>
        <p:spPr>
          <a:xfrm xmlns:a="http://schemas.openxmlformats.org/drawingml/2006/main">
            <a:off x="2973168" y="4844524"/>
            <a:ext cx="0" cy="11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3" name="Google Shape;133;p25">
            <a:extLst xmlns:a="http://schemas.openxmlformats.org/drawingml/2006/main">
              <a:ext uri="{FF2B5EF4-FFF2-40B4-BE49-F238E27FC236}">
                <a16:creationId xmlns:a16="http://schemas.microsoft.com/office/drawing/2014/main" id="{4A8D01C8-9787-4C16-98B3-B3AF0BC8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1782" y="4838824"/>
            <a:ext cx="11985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none" cap="none">
                <a:solidFill>
                  <a:srgbClr val="9DAEAD"/>
                </a:solidFill>
                <a:latin typeface="Roboto"/>
                <a:ea typeface="Roboto"/>
                <a:cs typeface="Roboto"/>
              </a:rPr>
              <a:t>contact@dataiku.com</a:t>
            </a:r>
            <a:endParaRPr sz="800" b="0" i="0" u="none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161" name="Google Shape;134;p25"/>
          <p:cNvCxnSpPr/>
          <p:nvPr/>
        </p:nvCxnSpPr>
        <p:spPr>
          <a:xfrm xmlns:a="http://schemas.openxmlformats.org/drawingml/2006/main">
            <a:off x="3822111" y="4844524"/>
            <a:ext cx="0" cy="11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cxnSp>
        <p:nvCxnSpPr>
          <p:cNvPr id="162" name="Google Shape;135;p25"/>
          <p:cNvCxnSpPr/>
          <p:nvPr/>
        </p:nvCxnSpPr>
        <p:spPr>
          <a:xfrm xmlns:a="http://schemas.openxmlformats.org/drawingml/2006/main">
            <a:off x="5139954" y="4844524"/>
            <a:ext cx="0" cy="1116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305B56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36" name="Google Shape;136;p25">
            <a:extLst xmlns:a="http://schemas.openxmlformats.org/drawingml/2006/main">
              <a:ext uri="{FF2B5EF4-FFF2-40B4-BE49-F238E27FC236}">
                <a16:creationId xmlns:a16="http://schemas.microsoft.com/office/drawing/2014/main" id="{293BB988-2C8E-4FD5-A59A-9BE39BE4F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9626" y="4838825"/>
            <a:ext cx="2535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X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7" name="Google Shape;137;p25">
            <a:extLst xmlns:a="http://schemas.openxmlformats.org/drawingml/2006/main">
              <a:ext uri="{FF2B5EF4-FFF2-40B4-BE49-F238E27FC236}">
                <a16:creationId xmlns:a16="http://schemas.microsoft.com/office/drawing/2014/main" id="{659AAC8B-C252-45E4-8C98-BA0BEE264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8824" y="4838825"/>
            <a:ext cx="5373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LinkedIn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8" name="Google Shape;138;p25">
            <a:extLst xmlns:a="http://schemas.openxmlformats.org/drawingml/2006/main">
              <a:ext uri="{FF2B5EF4-FFF2-40B4-BE49-F238E27FC236}">
                <a16:creationId xmlns:a16="http://schemas.microsoft.com/office/drawing/2014/main" id="{3F29E507-1E3E-407D-BF8A-A5A814D95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46421" y="4838825"/>
            <a:ext cx="5373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Youtube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39" name="Google Shape;139;p25">
            <a:extLst xmlns:a="http://schemas.openxmlformats.org/drawingml/2006/main">
              <a:ext uri="{FF2B5EF4-FFF2-40B4-BE49-F238E27FC236}">
                <a16:creationId xmlns:a16="http://schemas.microsoft.com/office/drawing/2014/main" id="{A833DE37-F401-43D8-A958-371D1C67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4018" y="4838825"/>
            <a:ext cx="537300" cy="12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sz="800" b="0" i="0" u="sng" cap="none">
                <a:solidFill>
                  <a:schemeClr val="hlink"/>
                </a:solidFill>
                <a:latin typeface="Roboto"/>
                <a:ea typeface="Roboto"/>
                <a:cs typeface="Roboto"/>
              </a:rPr>
              <a:t>Facebook</a:t>
            </a:r>
            <a:endParaRPr sz="800" b="0" i="0" u="sng" cap="none">
              <a:solidFill>
                <a:srgbClr val="9DAEAD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167" name="Google Shape;140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66fa0335604b4c3d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4014263" y="370246"/>
            <a:ext cx="1115474" cy="2390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168" name="Google Shape;141;p25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ab7acbcc8d584cf9">
            <a:alphaModFix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 rot="10800000">
            <a:off x="3935367" y="2804350"/>
            <a:ext cx="1273266" cy="1803599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42" name="Google Shape;142;p25">
            <a:extLst xmlns:a="http://schemas.openxmlformats.org/drawingml/2006/main">
              <a:ext uri="{FF2B5EF4-FFF2-40B4-BE49-F238E27FC236}">
                <a16:creationId xmlns:a16="http://schemas.microsoft.com/office/drawing/2014/main" id="{174D9DC1-0429-4F83-A4F4-918C8A3374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48850" y="1378800"/>
            <a:ext cx="8046300" cy="20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1pPr>
            <a:lvl2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2pPr>
            <a:lvl3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3pPr>
            <a:lvl4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4pPr>
            <a:lvl5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5pPr>
            <a:lvl6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6pPr>
            <a:lvl7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7pPr>
            <a:lvl8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8pPr>
            <a:lvl9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200"/>
              <a:buNone/>
              <a:defRPr sz="7200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5.xml><?xml version="1.0" encoding="utf-8"?>
<p:sldLayout xmlns:p="http://schemas.openxmlformats.org/presentationml/2006/main" matchingName="2 Columns Blue">
  <p:cSld name="CUSTOM_7_1_1_1_1_1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4" name="Google Shape;144;p26">
            <a:extLst xmlns:a="http://schemas.openxmlformats.org/drawingml/2006/main">
              <a:ext uri="{FF2B5EF4-FFF2-40B4-BE49-F238E27FC236}">
                <a16:creationId xmlns:a16="http://schemas.microsoft.com/office/drawing/2014/main" id="{58194C7E-393E-44F0-BBE3-E8BF679C83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556784" y="4749851"/>
            <a:ext cx="548700" cy="1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noAutofit/>
          </a:bodyPr>
          <a:lstStyle xmlns:a="http://schemas.openxmlformats.org/drawingml/2006/main">
            <a:lvl1pPr>
              <a:buNone/>
              <a:defRPr/>
            </a:lvl1pPr>
            <a:lvl2pPr>
              <a:buNone/>
              <a:defRPr/>
            </a:lvl2pPr>
            <a:lvl3pPr>
              <a:buNone/>
              <a:defRPr/>
            </a:lvl3pPr>
            <a:lvl4pPr>
              <a:buNone/>
              <a:defRPr/>
            </a:lvl4pPr>
            <a:lvl5pPr>
              <a:buNone/>
              <a:defRPr/>
            </a:lvl5pPr>
            <a:lvl6pPr>
              <a:buNone/>
              <a:defRPr/>
            </a:lvl6pPr>
            <a:lvl7pPr>
              <a:buNone/>
              <a:defRPr/>
            </a:lvl7pPr>
            <a:lvl8pPr>
              <a:buNone/>
              <a:defRPr/>
            </a:lvl8pPr>
            <a:lvl9pPr>
              <a:buNone/>
              <a:defRPr/>
            </a:lvl9pPr>
          </a:lstStyle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t>‹#›</a:t>
            </a:fld>
            <a:endParaRPr/>
          </a:p>
        </p:txBody>
      </p:sp>
      <p:sp>
        <p:nvSpPr>
          <p:cNvPr id="145" name="Google Shape;145;p26">
            <a:extLst xmlns:a="http://schemas.openxmlformats.org/drawingml/2006/main">
              <a:ext uri="{FF2B5EF4-FFF2-40B4-BE49-F238E27FC236}">
                <a16:creationId xmlns:a16="http://schemas.microsoft.com/office/drawing/2014/main" id="{EB54AF4C-7F9E-457A-B989-317897D4DD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1975" y="225522"/>
            <a:ext cx="8009700" cy="312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91425" tIns="91425" rIns="91425" bIns="0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oboto"/>
              <a:buNone/>
              <a:defRPr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1pPr>
            <a:lvl2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2pPr>
            <a:lvl3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3pPr>
            <a:lvl4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4pPr>
            <a:lvl5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5pPr>
            <a:lvl6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6pPr>
            <a:lvl7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None/>
              <a:defRPr sz="1800" b="1">
                <a:solidFill>
                  <a:schemeClr val="dk2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/>
        </p:txBody>
      </p:sp>
      <p:sp>
        <p:nvSpPr>
          <p:cNvPr id="146" name="Google Shape;146;p26">
            <a:extLst xmlns:a="http://schemas.openxmlformats.org/drawingml/2006/main">
              <a:ext uri="{FF2B5EF4-FFF2-40B4-BE49-F238E27FC236}">
                <a16:creationId xmlns:a16="http://schemas.microsoft.com/office/drawing/2014/main" id="{896768BE-D89C-4445-9FF7-5CBC4CC240EF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71975" y="538122"/>
            <a:ext cx="8009700" cy="2139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spcFirstLastPara="1" wrap="square" lIns="91425" tIns="91425" rIns="91425" bIns="0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100"/>
              <a:buNone/>
              <a:defRPr sz="1100" b="1"/>
            </a:lvl1pPr>
            <a:lvl2pPr>
              <a:spcBef>
                <a:spcPts val="600"/>
              </a:spcBef>
              <a:spcAft>
                <a:spcPts val="0"/>
              </a:spcAft>
              <a:buSzPts val="1100"/>
              <a:buNone/>
              <a:defRPr b="1"/>
            </a:lvl2pPr>
            <a:lvl3pPr>
              <a:spcBef>
                <a:spcPts val="600"/>
              </a:spcBef>
              <a:spcAft>
                <a:spcPts val="0"/>
              </a:spcAft>
              <a:buSzPts val="1000"/>
              <a:buNone/>
              <a:defRPr b="1"/>
            </a:lvl3pPr>
            <a:lvl4pPr>
              <a:spcBef>
                <a:spcPts val="600"/>
              </a:spcBef>
              <a:spcAft>
                <a:spcPts val="0"/>
              </a:spcAft>
              <a:buSzPts val="900"/>
              <a:buNone/>
              <a:defRPr b="1"/>
            </a:lvl4pPr>
            <a:lvl5pPr>
              <a:spcBef>
                <a:spcPts val="600"/>
              </a:spcBef>
              <a:spcAft>
                <a:spcPts val="0"/>
              </a:spcAft>
              <a:buSzPts val="900"/>
              <a:buNone/>
              <a:defRPr b="1"/>
            </a:lvl5pPr>
            <a:lvl6pPr>
              <a:spcBef>
                <a:spcPts val="300"/>
              </a:spcBef>
              <a:spcAft>
                <a:spcPts val="0"/>
              </a:spcAft>
              <a:buSzPts val="700"/>
              <a:buNone/>
              <a:defRPr b="1"/>
            </a:lvl6pPr>
            <a:lvl7pPr>
              <a:spcBef>
                <a:spcPts val="300"/>
              </a:spcBef>
              <a:spcAft>
                <a:spcPts val="0"/>
              </a:spcAft>
              <a:buSzPts val="100"/>
              <a:buNone/>
              <a:defRPr b="1"/>
            </a:lvl7pPr>
            <a:lvl8pPr>
              <a:spcBef>
                <a:spcPts val="0"/>
              </a:spcBef>
              <a:spcAft>
                <a:spcPts val="0"/>
              </a:spcAft>
              <a:buSzPts val="100"/>
              <a:buNone/>
              <a:defRPr b="1"/>
            </a:lvl8pPr>
            <a:lvl9pPr>
              <a:spcBef>
                <a:spcPts val="0"/>
              </a:spcBef>
              <a:spcAft>
                <a:spcPts val="0"/>
              </a:spcAft>
              <a:buSzPts val="100"/>
              <a:buNone/>
              <a:defRPr b="1"/>
            </a:lvl9pPr>
          </a:lstStyle>
          <a:p xmlns:a="http://schemas.openxmlformats.org/drawingml/2006/main"/>
        </p:txBody>
      </p:sp>
      <p:sp>
        <p:nvSpPr>
          <p:cNvPr id="147" name="Google Shape;147;p26">
            <a:extLst xmlns:a="http://schemas.openxmlformats.org/drawingml/2006/main">
              <a:ext uri="{FF2B5EF4-FFF2-40B4-BE49-F238E27FC236}">
                <a16:creationId xmlns:a16="http://schemas.microsoft.com/office/drawing/2014/main" id="{AFBE5F9D-DF60-4798-BBFB-3A4DE6461E25}"/>
              </a:ext>
            </a:extLst>
          </p:cNvPr>
          <p:cNvSpPr>
            <a:spLocks xmlns:a="http://schemas.openxmlformats.org/drawingml/2006/main" noGrp="1"/>
          </p:cNvSpPr>
          <p:nvPr>
            <p:ph type="subTitle" idx="2"/>
          </p:nvPr>
        </p:nvSpPr>
        <p:spPr>
          <a:xfrm xmlns:a="http://schemas.openxmlformats.org/drawingml/2006/main">
            <a:off x="175900" y="1689550"/>
            <a:ext cx="2671200" cy="30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</a:defRPr>
            </a:lvl1pPr>
            <a:lvl2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2pPr>
            <a:lvl3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3pPr>
            <a:lvl4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4pPr>
            <a:lvl5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5pPr>
            <a:lvl6pPr>
              <a:spcBef>
                <a:spcPts val="300"/>
              </a:spcBef>
              <a:spcAft>
                <a:spcPts val="0"/>
              </a:spcAft>
              <a:buSzPts val="1100"/>
              <a:buNone/>
              <a:defRPr sz="1100"/>
            </a:lvl6pPr>
            <a:lvl7pPr>
              <a:spcBef>
                <a:spcPts val="300"/>
              </a:spcBef>
              <a:spcAft>
                <a:spcPts val="0"/>
              </a:spcAft>
              <a:buSzPts val="1100"/>
              <a:buNone/>
              <a:defRPr sz="11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48" name="Google Shape;148;p26">
            <a:extLst xmlns:a="http://schemas.openxmlformats.org/drawingml/2006/main">
              <a:ext uri="{FF2B5EF4-FFF2-40B4-BE49-F238E27FC236}">
                <a16:creationId xmlns:a16="http://schemas.microsoft.com/office/drawing/2014/main" id="{0ED73834-4E0B-4B4B-BE8C-023A65425174}"/>
              </a:ext>
            </a:extLst>
          </p:cNvPr>
          <p:cNvSpPr>
            <a:spLocks xmlns:a="http://schemas.openxmlformats.org/drawingml/2006/main" noGrp="1"/>
          </p:cNvSpPr>
          <p:nvPr>
            <p:ph type="subTitle" idx="3"/>
          </p:nvPr>
        </p:nvSpPr>
        <p:spPr>
          <a:xfrm xmlns:a="http://schemas.openxmlformats.org/drawingml/2006/main">
            <a:off x="3186688" y="1689550"/>
            <a:ext cx="2671200" cy="3013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SzPts val="1100"/>
              <a:buFont typeface="Roboto"/>
              <a:buNone/>
              <a:defRPr sz="1100">
                <a:latin typeface="Roboto"/>
                <a:ea typeface="Roboto"/>
                <a:cs typeface="Roboto"/>
              </a:defRPr>
            </a:lvl1pPr>
            <a:lvl2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2pPr>
            <a:lvl3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3pPr>
            <a:lvl4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4pPr>
            <a:lvl5pPr>
              <a:spcBef>
                <a:spcPts val="600"/>
              </a:spcBef>
              <a:spcAft>
                <a:spcPts val="0"/>
              </a:spcAft>
              <a:buSzPts val="1100"/>
              <a:buNone/>
              <a:defRPr sz="1100"/>
            </a:lvl5pPr>
            <a:lvl6pPr>
              <a:spcBef>
                <a:spcPts val="300"/>
              </a:spcBef>
              <a:spcAft>
                <a:spcPts val="0"/>
              </a:spcAft>
              <a:buSzPts val="1100"/>
              <a:buNone/>
              <a:defRPr sz="1100"/>
            </a:lvl6pPr>
            <a:lvl7pPr>
              <a:spcBef>
                <a:spcPts val="300"/>
              </a:spcBef>
              <a:spcAft>
                <a:spcPts val="0"/>
              </a:spcAft>
              <a:buSzPts val="1100"/>
              <a:buNone/>
              <a:defRPr sz="1100"/>
            </a:lvl7pPr>
            <a:lvl8pPr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 xmlns:a="http://schemas.openxmlformats.org/drawingml/2006/main"/>
        </p:txBody>
      </p:sp>
      <p:sp>
        <p:nvSpPr>
          <p:cNvPr id="149" name="Google Shape;149;p26">
            <a:extLst xmlns:a="http://schemas.openxmlformats.org/drawingml/2006/main">
              <a:ext uri="{FF2B5EF4-FFF2-40B4-BE49-F238E27FC236}">
                <a16:creationId xmlns:a16="http://schemas.microsoft.com/office/drawing/2014/main" id="{277C7EF9-1560-4BDC-AE80-55328BD0C6C6}"/>
              </a:ext>
            </a:extLst>
          </p:cNvPr>
          <p:cNvSpPr>
            <a:spLocks xmlns:a="http://schemas.openxmlformats.org/drawingml/2006/main" noGrp="1"/>
          </p:cNvSpPr>
          <p:nvPr>
            <p:ph type="subTitle" idx="4"/>
          </p:nvPr>
        </p:nvSpPr>
        <p:spPr>
          <a:xfrm xmlns:a="http://schemas.openxmlformats.org/drawingml/2006/main">
            <a:off x="175900" y="1034200"/>
            <a:ext cx="2671200" cy="65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2pPr>
            <a:lvl3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4pPr>
            <a:lvl5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5pPr>
            <a:lvl6pPr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6pPr>
            <a:lvl7pPr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  <p:sp>
        <p:nvSpPr>
          <p:cNvPr id="150" name="Google Shape;150;p26">
            <a:extLst xmlns:a="http://schemas.openxmlformats.org/drawingml/2006/main">
              <a:ext uri="{FF2B5EF4-FFF2-40B4-BE49-F238E27FC236}">
                <a16:creationId xmlns:a16="http://schemas.microsoft.com/office/drawing/2014/main" id="{17137CAA-0BF4-46DA-859E-BF7C795BB7D0}"/>
              </a:ext>
            </a:extLst>
          </p:cNvPr>
          <p:cNvSpPr>
            <a:spLocks xmlns:a="http://schemas.openxmlformats.org/drawingml/2006/main" noGrp="1"/>
          </p:cNvSpPr>
          <p:nvPr>
            <p:ph type="subTitle" idx="5"/>
          </p:nvPr>
        </p:nvSpPr>
        <p:spPr>
          <a:xfrm xmlns:a="http://schemas.openxmlformats.org/drawingml/2006/main">
            <a:off x="3186700" y="1034200"/>
            <a:ext cx="2671200" cy="655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spcFirstLastPara="1" wrap="square" lIns="0" tIns="0" rIns="0" bIns="0" anchor="b">
            <a:spAutoFit/>
          </a:bodyPr>
          <a:lstStyle xmlns:a="http://schemas.openxmlformats.org/drawingml/2006/main">
            <a:lvl1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1pPr>
            <a:lvl2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2pPr>
            <a:lvl3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3pPr>
            <a:lvl4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4pPr>
            <a:lvl5pPr>
              <a:spcBef>
                <a:spcPts val="6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5pPr>
            <a:lvl6pPr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6pPr>
            <a:lvl7pPr>
              <a:spcBef>
                <a:spcPts val="30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7pPr>
            <a:lvl8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8pPr>
            <a:lvl9pPr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  <a:defRPr sz="1100" b="1">
                <a:solidFill>
                  <a:schemeClr val="lt1"/>
                </a:solidFill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6.xml><?xml version="1.0" encoding="utf-8"?>
<p:sldLayout xmlns:p="http://schemas.openxmlformats.org/presentationml/2006/main" matchingName="5 - General_w/o subti">
  <p:cSld name="5 - general_1">
    <p:bg>
      <p:bgPr>
        <a:solidFill xmlns:a="http://schemas.openxmlformats.org/drawingml/2006/main">
          <a:schemeClr val="dk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2" name="Google Shape;152;p27">
            <a:extLst xmlns:a="http://schemas.openxmlformats.org/drawingml/2006/main">
              <a:ext uri="{FF2B5EF4-FFF2-40B4-BE49-F238E27FC236}">
                <a16:creationId xmlns:a16="http://schemas.microsoft.com/office/drawing/2014/main" id="{CAC21FB5-5FAB-45BD-BC62-1698E6BB7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90000"/>
            </a:srgbClr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53" name="Google Shape;153;p27">
            <a:extLst xmlns:a="http://schemas.openxmlformats.org/drawingml/2006/main">
              <a:ext uri="{FF2B5EF4-FFF2-40B4-BE49-F238E27FC236}">
                <a16:creationId xmlns:a16="http://schemas.microsoft.com/office/drawing/2014/main" id="{ADEBF09B-A7FC-4DB9-9F57-C4E078535C1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>
          <a:xfrm xmlns:a="http://schemas.openxmlformats.org/drawingml/2006/main">
            <a:off x="8223723" y="4909710"/>
            <a:ext cx="792000" cy="1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ctr">
            <a:spAutoFit/>
          </a:bodyPr>
          <a:lstStyle xmlns:a="http://schemas.openxmlformats.org/drawingml/2006/main">
            <a:lvl1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1pPr>
            <a:lvl2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2pPr>
            <a:lvl3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3pPr>
            <a:lvl4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4pPr>
            <a:lvl5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5pPr>
            <a:lvl6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6pPr>
            <a:lvl7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7pPr>
            <a:lvl8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8pPr>
            <a:lvl9pPr marL="0" marR="0" indent="0" algn="r">
              <a:spcBef>
                <a:spcPts val="0"/>
              </a:spcBef>
              <a:buNone/>
              <a:defRPr sz="700" b="0" i="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defRPr>
            </a:lvl9pPr>
          </a:lstStyle>
          <a:p xmlns:a="http://schemas.openxmlformats.org/drawingml/2006/main">
            <a:pPr marL="0" lvl="0" indent="0" algn="r">
              <a:spcBef>
                <a:spcPts val="0"/>
              </a:spcBef>
              <a:spcAft>
                <a:spcPts val="0"/>
              </a:spcAft>
              <a:buNone/>
            </a:pPr>
            <a:r>
              <a:t>[ </a:t>
            </a:r>
            <a:fld id="{00000000-1234-1234-1234-123412341234}" type="slidenum">
              <a:t>‹#›</a:t>
            </a:fld>
            <a:r>
              <a:t> ]</a:t>
            </a:r>
            <a:endParaRPr/>
          </a:p>
        </p:txBody>
      </p:sp>
      <p:sp>
        <p:nvSpPr>
          <p:cNvPr id="154" name="Google Shape;154;p27">
            <a:extLst xmlns:a="http://schemas.openxmlformats.org/drawingml/2006/main">
              <a:ext uri="{FF2B5EF4-FFF2-40B4-BE49-F238E27FC236}">
                <a16:creationId xmlns:a16="http://schemas.microsoft.com/office/drawing/2014/main" id="{047BE930-21D3-4067-8984-13A4F1112F3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49820" y="377971"/>
            <a:ext cx="7886700" cy="369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 xmlns:a="http://schemas.openxmlformats.org/drawingml/2006/main"/>
        </p:txBody>
      </p:sp>
      <p:sp>
        <p:nvSpPr>
          <p:cNvPr id="155" name="Google Shape;155;p27">
            <a:extLst xmlns:a="http://schemas.openxmlformats.org/drawingml/2006/main">
              <a:ext uri="{FF2B5EF4-FFF2-40B4-BE49-F238E27FC236}">
                <a16:creationId xmlns:a16="http://schemas.microsoft.com/office/drawing/2014/main" id="{51BB103C-5A0E-4962-A808-89FB3EC1A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820" y="4917405"/>
            <a:ext cx="2755800" cy="10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700">
                <a:solidFill>
                  <a:srgbClr val="CCCCCC"/>
                </a:solidFill>
                <a:latin typeface="Roboto Mono Medium"/>
                <a:ea typeface="Roboto Mono Medium"/>
                <a:cs typeface="Roboto Mono Medium"/>
              </a:rPr>
              <a:t>©2025 DATAIKU INC.</a:t>
            </a:r>
            <a:endParaRPr sz="700">
              <a:solidFill>
                <a:srgbClr val="CCCCCC"/>
              </a:solidFill>
              <a:latin typeface="Roboto Mono Medium"/>
              <a:ea typeface="Roboto Mono Medium"/>
              <a:cs typeface="Roboto Mono Medium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f930965f9e24c1c" /><Relationship Type="http://schemas.openxmlformats.org/officeDocument/2006/relationships/slideLayout" Target="/ppt/slideLayouts/slideLayout1.xml" Id="R694d2bd2b1974e56" /><Relationship Type="http://schemas.openxmlformats.org/officeDocument/2006/relationships/slideLayout" Target="/ppt/slideLayouts/slideLayout2.xml" Id="R927377ffaf224a0e" /><Relationship Type="http://schemas.openxmlformats.org/officeDocument/2006/relationships/slideLayout" Target="/ppt/slideLayouts/slideLayout3.xml" Id="Re1be9f4567ee451a" /><Relationship Type="http://schemas.openxmlformats.org/officeDocument/2006/relationships/slideLayout" Target="/ppt/slideLayouts/slideLayout4.xml" Id="Ra83af9b2283141a3" /><Relationship Type="http://schemas.openxmlformats.org/officeDocument/2006/relationships/slideLayout" Target="/ppt/slideLayouts/slideLayout5.xml" Id="Rbdfc5e98164a464c" /><Relationship Type="http://schemas.openxmlformats.org/officeDocument/2006/relationships/slideLayout" Target="/ppt/slideLayouts/slideLayout6.xml" Id="R50078286a96e4bdf" /><Relationship Type="http://schemas.openxmlformats.org/officeDocument/2006/relationships/slideLayout" Target="/ppt/slideLayouts/slideLayout7.xml" Id="R936b027d9f6941de" /><Relationship Type="http://schemas.openxmlformats.org/officeDocument/2006/relationships/slideLayout" Target="/ppt/slideLayouts/slideLayout8.xml" Id="Rdbbc178bc14d4693" /><Relationship Type="http://schemas.openxmlformats.org/officeDocument/2006/relationships/slideLayout" Target="/ppt/slideLayouts/slideLayout9.xml" Id="Rbf1f81cd17284e2c" /><Relationship Type="http://schemas.openxmlformats.org/officeDocument/2006/relationships/slideLayout" Target="/ppt/slideLayouts/slideLayout10.xml" Id="R2fe7e9eccb6f4b32" /><Relationship Type="http://schemas.openxmlformats.org/officeDocument/2006/relationships/slideLayout" Target="/ppt/slideLayouts/slideLayout11.xml" Id="Rb30eefea0c5b4b6c" /><Relationship Type="http://schemas.openxmlformats.org/officeDocument/2006/relationships/slideLayout" Target="/ppt/slideLayouts/slideLayout12.xml" Id="Rb64119174fa446a1" /><Relationship Type="http://schemas.openxmlformats.org/officeDocument/2006/relationships/slideLayout" Target="/ppt/slideLayouts/slideLayout13.xml" Id="Rbf59b167b6c647f6" /><Relationship Type="http://schemas.openxmlformats.org/officeDocument/2006/relationships/slideLayout" Target="/ppt/slideLayouts/slideLayout14.xml" Id="R67423e771b074506" /><Relationship Type="http://schemas.openxmlformats.org/officeDocument/2006/relationships/slideLayout" Target="/ppt/slideLayouts/slideLayout15.xml" Id="R93056bfc81784a40" /><Relationship Type="http://schemas.openxmlformats.org/officeDocument/2006/relationships/slideLayout" Target="/ppt/slideLayouts/slideLayout16.xml" Id="Rae7063cc2c384e6b" /><Relationship Type="http://schemas.openxmlformats.org/officeDocument/2006/relationships/slideLayout" Target="/ppt/slideLayouts/slideLayout17.xml" Id="R1b556aa4288047e6" /><Relationship Type="http://schemas.openxmlformats.org/officeDocument/2006/relationships/slideLayout" Target="/ppt/slideLayouts/slideLayout18.xml" Id="R3a5da9612337449b" /><Relationship Type="http://schemas.openxmlformats.org/officeDocument/2006/relationships/slideLayout" Target="/ppt/slideLayouts/slideLayout19.xml" Id="Rc22f67e73c474975" /><Relationship Type="http://schemas.openxmlformats.org/officeDocument/2006/relationships/slideLayout" Target="/ppt/slideLayouts/slideLayout20.xml" Id="R46c59935f14146cb" /><Relationship Type="http://schemas.openxmlformats.org/officeDocument/2006/relationships/slideLayout" Target="/ppt/slideLayouts/slideLayout21.xml" Id="R006dfc2b22c942a1" /><Relationship Type="http://schemas.openxmlformats.org/officeDocument/2006/relationships/slideLayout" Target="/ppt/slideLayouts/slideLayout22.xml" Id="R64416ab022854c0d" /><Relationship Type="http://schemas.openxmlformats.org/officeDocument/2006/relationships/slideLayout" Target="/ppt/slideLayouts/slideLayout23.xml" Id="R31cc1ae4826446e7" /><Relationship Type="http://schemas.openxmlformats.org/officeDocument/2006/relationships/slideLayout" Target="/ppt/slideLayouts/slideLayout24.xml" Id="Ra0187b1c6e9149fd" /><Relationship Type="http://schemas.openxmlformats.org/officeDocument/2006/relationships/slideLayout" Target="/ppt/slideLayouts/slideLayout25.xml" Id="R92c30aafa55f481e" /><Relationship Type="http://schemas.openxmlformats.org/officeDocument/2006/relationships/slideLayout" Target="/ppt/slideLayouts/slideLayout26.xml" Id="Ra113c1b2cab54799" /></Relationships>
</file>

<file path=ppt/slideMasters/slideMaster1.xml><?xml version="1.0" encoding="utf-8"?>
<p:sldMaster xmlns:p="http://schemas.openxmlformats.org/presentationml/2006/main">
  <p:cSld name="simple-light-2">
    <p:bg>
      <p:bgPr>
        <a:solidFill xmlns:a="http://schemas.openxmlformats.org/drawingml/2006/main">
          <a:srgbClr val="FEFEF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Google Shape;6;p1">
            <a:extLst xmlns:a="http://schemas.openxmlformats.org/drawingml/2006/main">
              <a:ext uri="{FF2B5EF4-FFF2-40B4-BE49-F238E27FC236}">
                <a16:creationId xmlns:a16="http://schemas.microsoft.com/office/drawing/2014/main" id="{6AEE3259-16B3-48C4-8986-8EBC6CB01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396000" y="229125"/>
            <a:ext cx="8520600" cy="41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1pPr>
            <a:lvl2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2pPr>
            <a:lvl3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3pPr>
            <a:lvl4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4pPr>
            <a:lvl5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5pPr>
            <a:lvl6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6pPr>
            <a:lvl7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7pPr>
            <a:lvl8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8pPr>
            <a:lvl9pPr marR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Spectral"/>
              <a:buNone/>
              <a:defRPr sz="2400" b="0" i="0" u="none" cap="none">
                <a:solidFill>
                  <a:schemeClr val="dk1"/>
                </a:solidFill>
                <a:latin typeface="Spectral"/>
                <a:ea typeface="Spectral"/>
                <a:cs typeface="Spectral"/>
              </a:defRPr>
            </a:lvl9pPr>
          </a:lstStyle>
          <a:p xmlns:a="http://schemas.openxmlformats.org/drawingml/2006/main"/>
        </p:txBody>
      </p:sp>
      <p:sp>
        <p:nvSpPr>
          <p:cNvPr id="7" name="Google Shape;7;p1">
            <a:extLst xmlns:a="http://schemas.openxmlformats.org/drawingml/2006/main">
              <a:ext uri="{FF2B5EF4-FFF2-40B4-BE49-F238E27FC236}">
                <a16:creationId xmlns:a16="http://schemas.microsoft.com/office/drawing/2014/main" id="{EE82F933-756B-448C-9C67-AC698A1DF1C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396000" y="1073525"/>
            <a:ext cx="8382300" cy="3068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>
            <a:lvl1pPr marL="457200" marR="0" indent="-30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oboto"/>
              <a:buChar char="●"/>
              <a:defRPr sz="12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1pPr>
            <a:lvl2pPr marL="914400" marR="0" indent="-298450" algn="l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Roboto"/>
              <a:buChar char="○"/>
              <a:defRPr sz="1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2pPr>
            <a:lvl3pPr marL="1371600" marR="0" indent="-29210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Roboto"/>
              <a:buChar char="■"/>
              <a:defRPr sz="10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3pPr>
            <a:lvl4pPr marL="1828800" marR="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●"/>
              <a:defRPr sz="9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4pPr>
            <a:lvl5pPr marL="2286000" marR="0" indent="-28575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○"/>
              <a:defRPr sz="9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5pPr>
            <a:lvl6pPr marL="2743200" marR="0" indent="-2730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700"/>
              <a:buFont typeface="Roboto"/>
              <a:buChar char="■"/>
              <a:defRPr sz="7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6pPr>
            <a:lvl7pPr marL="3200400" marR="0" indent="-2349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"/>
              <a:buChar char="●"/>
              <a:defRPr sz="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7pPr>
            <a:lvl8pPr marL="3657600" marR="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"/>
              <a:buChar char="○"/>
              <a:defRPr sz="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8pPr>
            <a:lvl9pPr marL="4114800" marR="0" indent="-23495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"/>
              <a:buFont typeface="Roboto"/>
              <a:buChar char="■"/>
              <a:defRPr sz="1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defRPr>
            </a:lvl9pPr>
          </a:lstStyle>
          <a:p xmlns:a="http://schemas.openxmlformats.org/drawingml/2006/main"/>
        </p:txBody>
      </p:sp>
      <p:sp>
        <p:nvSpPr>
          <p:cNvPr id="8" name="Google Shape;8;p1">
            <a:extLst xmlns:a="http://schemas.openxmlformats.org/drawingml/2006/main">
              <a:ext uri="{FF2B5EF4-FFF2-40B4-BE49-F238E27FC236}">
                <a16:creationId xmlns:a16="http://schemas.microsoft.com/office/drawing/2014/main" id="{7E289C6A-E9A9-4264-BA72-C23F49A1B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00" y="4925687"/>
            <a:ext cx="693900" cy="9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"/>
              <a:buFont typeface="Arial"/>
              <a:buNone/>
            </a:pPr>
            <a:r>
              <a:rPr sz="600" b="0" i="0" u="none" cap="none">
                <a:solidFill>
                  <a:schemeClr val="dk1"/>
                </a:solidFill>
                <a:latin typeface="Roboto"/>
                <a:ea typeface="Roboto"/>
                <a:cs typeface="Roboto"/>
              </a:rPr>
              <a:t>©2026 Dataiku Inc.</a:t>
            </a:r>
            <a:endParaRPr sz="600" b="0" i="0" u="none" cap="none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94d2bd2b1974e56"/>
    <p:sldLayoutId xmlns:r="http://schemas.openxmlformats.org/officeDocument/2006/relationships" id="2147483650" r:id="R927377ffaf224a0e"/>
    <p:sldLayoutId xmlns:r="http://schemas.openxmlformats.org/officeDocument/2006/relationships" id="2147483651" r:id="Re1be9f4567ee451a"/>
    <p:sldLayoutId xmlns:r="http://schemas.openxmlformats.org/officeDocument/2006/relationships" id="2147483652" r:id="Ra83af9b2283141a3"/>
    <p:sldLayoutId xmlns:r="http://schemas.openxmlformats.org/officeDocument/2006/relationships" id="2147483653" r:id="Rbdfc5e98164a464c"/>
    <p:sldLayoutId xmlns:r="http://schemas.openxmlformats.org/officeDocument/2006/relationships" id="2147483654" r:id="R50078286a96e4bdf"/>
    <p:sldLayoutId xmlns:r="http://schemas.openxmlformats.org/officeDocument/2006/relationships" id="2147483655" r:id="R936b027d9f6941de"/>
    <p:sldLayoutId xmlns:r="http://schemas.openxmlformats.org/officeDocument/2006/relationships" id="2147483656" r:id="Rdbbc178bc14d4693"/>
    <p:sldLayoutId xmlns:r="http://schemas.openxmlformats.org/officeDocument/2006/relationships" id="2147483657" r:id="Rbf1f81cd17284e2c"/>
    <p:sldLayoutId xmlns:r="http://schemas.openxmlformats.org/officeDocument/2006/relationships" id="2147483658" r:id="R2fe7e9eccb6f4b32"/>
    <p:sldLayoutId xmlns:r="http://schemas.openxmlformats.org/officeDocument/2006/relationships" id="2147483659" r:id="Rb30eefea0c5b4b6c"/>
    <p:sldLayoutId xmlns:r="http://schemas.openxmlformats.org/officeDocument/2006/relationships" id="2147483660" r:id="Rb64119174fa446a1"/>
    <p:sldLayoutId xmlns:r="http://schemas.openxmlformats.org/officeDocument/2006/relationships" id="2147483661" r:id="Rbf59b167b6c647f6"/>
    <p:sldLayoutId xmlns:r="http://schemas.openxmlformats.org/officeDocument/2006/relationships" id="2147483662" r:id="R67423e771b074506"/>
    <p:sldLayoutId xmlns:r="http://schemas.openxmlformats.org/officeDocument/2006/relationships" id="2147483663" r:id="R93056bfc81784a40"/>
    <p:sldLayoutId xmlns:r="http://schemas.openxmlformats.org/officeDocument/2006/relationships" id="2147483664" r:id="Rae7063cc2c384e6b"/>
    <p:sldLayoutId xmlns:r="http://schemas.openxmlformats.org/officeDocument/2006/relationships" id="2147483665" r:id="R1b556aa4288047e6"/>
    <p:sldLayoutId xmlns:r="http://schemas.openxmlformats.org/officeDocument/2006/relationships" id="2147483666" r:id="R3a5da9612337449b"/>
    <p:sldLayoutId xmlns:r="http://schemas.openxmlformats.org/officeDocument/2006/relationships" id="2147483667" r:id="Rc22f67e73c474975"/>
    <p:sldLayoutId xmlns:r="http://schemas.openxmlformats.org/officeDocument/2006/relationships" id="2147483668" r:id="R46c59935f14146cb"/>
    <p:sldLayoutId xmlns:r="http://schemas.openxmlformats.org/officeDocument/2006/relationships" id="2147483669" r:id="R006dfc2b22c942a1"/>
    <p:sldLayoutId xmlns:r="http://schemas.openxmlformats.org/officeDocument/2006/relationships" id="2147483670" r:id="R64416ab022854c0d"/>
    <p:sldLayoutId xmlns:r="http://schemas.openxmlformats.org/officeDocument/2006/relationships" id="2147483671" r:id="R31cc1ae4826446e7"/>
    <p:sldLayoutId xmlns:r="http://schemas.openxmlformats.org/officeDocument/2006/relationships" id="2147483672" r:id="Ra0187b1c6e9149fd"/>
    <p:sldLayoutId xmlns:r="http://schemas.openxmlformats.org/officeDocument/2006/relationships" id="2147483673" r:id="R92c30aafa55f481e"/>
    <p:sldLayoutId xmlns:r="http://schemas.openxmlformats.org/officeDocument/2006/relationships" id="2147483674" r:id="Ra113c1b2cab54799"/>
  </p:sldLayoutIdLst>
  <p:hf sldNum="0" hdr="0" ftr="0" dt="0"/>
  <p:txStyles>
    <p:title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titleStyle>
    <p:body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bodyStyle>
    <p:otherStyle>
      <a:lvl1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1pPr>
      <a:lvl2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2pPr>
      <a:lvl3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3pPr>
      <a:lvl4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4pPr>
      <a:lvl5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5pPr>
      <a:lvl6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6pPr>
      <a:lvl7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7pPr>
      <a:lvl8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8pPr>
      <a:lvl9pPr xmlns:a="http://schemas.openxmlformats.org/drawingml/2006/main" marR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buNone/>
        <a:defRPr sz="1400" b="0" i="0" u="none" cap="none" spc="0">
          <a:solidFill>
            <a:srgbClr val="000000"/>
          </a:solidFill>
          <a:latin typeface="Arial"/>
          <a:ea typeface="Arial"/>
          <a:cs typeface="Arial"/>
        </a:defRPr>
      </a:lvl9pPr>
    </p:otherStyle>
  </p:txStyles>
</p:sldMaster>
</file>

<file path=ppt/slideMasters/theme/theme2.xml><?xml version="1.0" encoding="utf-8"?>
<a:theme xmlns:a="http://schemas.openxmlformats.org/drawingml/2006/main" name="Dataiku Company Template 2026">
  <a:themeElements>
    <a:clrScheme name="Simple Light">
      <a:dk1>
        <a:srgbClr val="1A1A1A"/>
      </a:dk1>
      <a:lt1>
        <a:srgbClr val="FFFFFF"/>
      </a:lt1>
      <a:dk2>
        <a:srgbClr val="3EDAB2"/>
      </a:dk2>
      <a:lt2>
        <a:srgbClr val="06312E"/>
      </a:lt2>
      <a:accent1>
        <a:srgbClr val="F8F4E4"/>
      </a:accent1>
      <a:accent2>
        <a:srgbClr val="C7FFF1"/>
      </a:accent2>
      <a:accent3>
        <a:srgbClr val="7092F2"/>
      </a:accent3>
      <a:accent4>
        <a:srgbClr val="EDAB4F"/>
      </a:accent4>
      <a:accent5>
        <a:srgbClr val="C6D4FA"/>
      </a:accent5>
      <a:accent6>
        <a:srgbClr val="F8DDB9"/>
      </a:accent6>
      <a:hlink>
        <a:srgbClr val="3EDA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d3041655bd7642c4" /><Relationship Type="http://schemas.openxmlformats.org/officeDocument/2006/relationships/image" Target="/ppt/media/image8.png" Id="R8913a1bf7c9f4882" /><Relationship Type="http://schemas.openxmlformats.org/officeDocument/2006/relationships/image" Target="/ppt/media/image.gif" Id="Rca1fc3c8ce0c4e50" /><Relationship Type="http://schemas.openxmlformats.org/officeDocument/2006/relationships/image" Target="/ppt/media/image9.png" Id="R36f437101e374c4a" /><Relationship Type="http://schemas.openxmlformats.org/officeDocument/2006/relationships/image" Target="/ppt/media/image10.png" Id="R9b7fa03a4be14c24" /><Relationship Type="http://schemas.openxmlformats.org/officeDocument/2006/relationships/image" Target="/ppt/media/image11.png" Id="R2f43c51368eb4d73" /><Relationship Type="http://schemas.openxmlformats.org/officeDocument/2006/relationships/image" Target="/ppt/media/image12.png" Id="R4b8f697ff12341c1" /><Relationship Type="http://schemas.openxmlformats.org/officeDocument/2006/relationships/image" Target="/ppt/media/image13.png" Id="Ra35f1e496d5c4c66" /><Relationship Type="http://schemas.openxmlformats.org/officeDocument/2006/relationships/notesSlide" Target="/ppt/notesSlides/notesSlide1.xml" Id="R1f8df67c96a5408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8.xml" Id="R2f280d9a80cd4d43" /><Relationship Type="http://schemas.openxmlformats.org/officeDocument/2006/relationships/image" Target="/ppt/media/image8.png" Id="R1b4185bd5ca3455b" /><Relationship Type="http://schemas.openxmlformats.org/officeDocument/2006/relationships/image" Target="/ppt/media/image.gif" Id="R2f38ec7685b84e9f" /><Relationship Type="http://schemas.openxmlformats.org/officeDocument/2006/relationships/image" Target="/ppt/media/image9.png" Id="Rb87d9a5128b24e96" /><Relationship Type="http://schemas.openxmlformats.org/officeDocument/2006/relationships/image" Target="/ppt/media/image10.png" Id="R17e78044b5114822" /><Relationship Type="http://schemas.openxmlformats.org/officeDocument/2006/relationships/image" Target="/ppt/media/image11.png" Id="R21bf66f8b6aa4e42" /><Relationship Type="http://schemas.openxmlformats.org/officeDocument/2006/relationships/image" Target="/ppt/media/image12.png" Id="Rfa82000d22884612" /><Relationship Type="http://schemas.openxmlformats.org/officeDocument/2006/relationships/image" Target="/ppt/media/image13.png" Id="R1f288c15ed2949b2" /><Relationship Type="http://schemas.openxmlformats.org/officeDocument/2006/relationships/notesSlide" Target="/ppt/notesSlides/notesSlide2.xml" Id="Rb1e1e62c7eb1410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6" name="Google Shape;160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8913a1bf7c9f4882">
            <a:alphaModFix amt="4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4652" y="227982"/>
            <a:ext cx="369154" cy="304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p28">
            <a:extLst xmlns:a="http://schemas.openxmlformats.org/drawingml/2006/main">
              <a:ext uri="{FF2B5EF4-FFF2-40B4-BE49-F238E27FC236}">
                <a16:creationId xmlns:a16="http://schemas.microsoft.com/office/drawing/2014/main" id="{217B8E17-DE35-47B5-BFDB-7D46AC4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00" y="1187775"/>
            <a:ext cx="2644500" cy="7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1">
              <a:solidFill>
                <a:srgbClr val="00B2A9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62" name="Google Shape;162;p28">
            <a:extLst xmlns:a="http://schemas.openxmlformats.org/drawingml/2006/main">
              <a:ext uri="{FF2B5EF4-FFF2-40B4-BE49-F238E27FC236}">
                <a16:creationId xmlns:a16="http://schemas.microsoft.com/office/drawing/2014/main" id="{BA2592C5-52D6-402A-A69B-AC81D3F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40" y="2380300"/>
            <a:ext cx="2292900" cy="36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Governed Dataiku Flow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3" name="Google Shape;163;p28">
            <a:extLst xmlns:a="http://schemas.openxmlformats.org/drawingml/2006/main">
              <a:ext uri="{FF2B5EF4-FFF2-40B4-BE49-F238E27FC236}">
                <a16:creationId xmlns:a16="http://schemas.microsoft.com/office/drawing/2014/main" id="{3A5FA05A-A256-4829-9490-23F6DE0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99" y="296254"/>
            <a:ext cx="311910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Life Sciences | Drug Discovery R&amp;D</a:t>
            </a: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260" name="Google Shape;164;p28"/>
          <p:cNvCxnSpPr/>
          <p:nvPr/>
        </p:nvCxnSpPr>
        <p:spPr>
          <a:xfrm xmlns:a="http://schemas.openxmlformats.org/drawingml/2006/main">
            <a:off x="5954221" y="3651804"/>
            <a:ext cx="353700" cy="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 cap="flat">
            <a:solidFill>
              <a:srgbClr val="00B2A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5" name="Google Shape;165;p28">
            <a:extLst xmlns:a="http://schemas.openxmlformats.org/drawingml/2006/main">
              <a:ext uri="{FF2B5EF4-FFF2-40B4-BE49-F238E27FC236}">
                <a16:creationId xmlns:a16="http://schemas.microsoft.com/office/drawing/2014/main" id="{EDF98D6F-451A-4CDB-A126-E133F2F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6" y="796095"/>
            <a:ext cx="26421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66" name="Google Shape;166;p28">
            <a:extLst xmlns:a="http://schemas.openxmlformats.org/drawingml/2006/main">
              <a:ext uri="{FF2B5EF4-FFF2-40B4-BE49-F238E27FC236}">
                <a16:creationId xmlns:a16="http://schemas.microsoft.com/office/drawing/2014/main" id="{CD6EEBD8-111A-4BD9-B3B2-88CC6AA6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71" y="926486"/>
            <a:ext cx="23823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221C35"/>
                </a:solidFill>
                <a:latin typeface="Roboto"/>
                <a:ea typeface="Roboto"/>
                <a:cs typeface="Roboto"/>
              </a:rPr>
              <a:t>Business Challenge</a:t>
            </a:r>
            <a:endParaRPr b="1">
              <a:solidFill>
                <a:srgbClr val="221C3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7" name="Google Shape;167;p28">
            <a:extLst xmlns:a="http://schemas.openxmlformats.org/drawingml/2006/main">
              <a:ext uri="{FF2B5EF4-FFF2-40B4-BE49-F238E27FC236}">
                <a16:creationId xmlns:a16="http://schemas.microsoft.com/office/drawing/2014/main" id="{ECBB02D0-1770-4B36-ACB5-DD8BD028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75" y="1226925"/>
            <a:ext cx="2458800" cy="9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latin typeface="Roboto"/>
                <a:ea typeface="Roboto"/>
                <a:cs typeface="Roboto"/>
              </a:rPr>
              <a:t>Target decisions depend on fragmented biomedical evidence. Teams need a governed way to connect sources, preserve lineage, and make the evidence usable before R&amp;D investment is committed.</a:t>
            </a:r>
            <a:endParaRPr/>
          </a:p>
        </p:txBody>
      </p:sp>
      <p:cxnSp>
        <p:nvCxnSpPr>
          <p:cNvPr id="264" name="Google Shape;168;p28"/>
          <p:cNvCxnSpPr/>
          <p:nvPr/>
        </p:nvCxnSpPr>
        <p:spPr>
          <a:xfrm xmlns:a="http://schemas.openxmlformats.org/drawingml/2006/main">
            <a:off x="446471" y="1162051"/>
            <a:ext cx="2191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8">
            <a:extLst xmlns:a="http://schemas.openxmlformats.org/drawingml/2006/main">
              <a:ext uri="{FF2B5EF4-FFF2-40B4-BE49-F238E27FC236}">
                <a16:creationId xmlns:a16="http://schemas.microsoft.com/office/drawing/2014/main" id="{C67B5789-F243-454F-A46F-C8D4252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350" y="796000"/>
            <a:ext cx="26445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3C0DF14D-38CC-43F4-A366-A8ACED04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750" y="926486"/>
            <a:ext cx="19722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221C35"/>
                </a:solidFill>
                <a:latin typeface="Roboto Condensed"/>
                <a:ea typeface="Roboto Condensed"/>
                <a:cs typeface="Roboto Condensed"/>
              </a:rPr>
              <a:t>Business Value</a:t>
            </a:r>
            <a:endParaRPr b="1">
              <a:solidFill>
                <a:srgbClr val="221C35"/>
              </a:solidFill>
              <a:latin typeface="Roboto Condensed"/>
              <a:ea typeface="Roboto Condensed"/>
              <a:cs typeface="Roboto Condensed"/>
            </a:endParaRPr>
          </a:p>
        </p:txBody>
      </p:sp>
      <p:cxnSp>
        <p:nvCxnSpPr>
          <p:cNvPr id="267" name="Google Shape;171;p28"/>
          <p:cNvCxnSpPr/>
          <p:nvPr/>
        </p:nvCxnSpPr>
        <p:spPr>
          <a:xfrm xmlns:a="http://schemas.openxmlformats.org/drawingml/2006/main">
            <a:off x="3353194" y="1162051"/>
            <a:ext cx="213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EEA30A7-918C-42A6-A205-A2925F7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050" y="796100"/>
            <a:ext cx="26445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0FC73EF6-5D4B-4E47-89E9-282B8EA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950" y="884186"/>
            <a:ext cx="25353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221C35"/>
                </a:solidFill>
                <a:latin typeface="Roboto Condensed"/>
                <a:ea typeface="Roboto Condensed"/>
                <a:cs typeface="Roboto Condensed"/>
              </a:rPr>
              <a:t>Business Outcome</a:t>
            </a:r>
            <a:endParaRPr b="1">
              <a:solidFill>
                <a:srgbClr val="221C35"/>
              </a:solidFill>
              <a:latin typeface="Roboto Condensed"/>
              <a:ea typeface="Roboto Condensed"/>
              <a:cs typeface="Roboto Condensed"/>
            </a:endParaRPr>
          </a:p>
        </p:txBody>
      </p:sp>
      <p:cxnSp>
        <p:nvCxnSpPr>
          <p:cNvPr id="270" name="Google Shape;174;p28"/>
          <p:cNvCxnSpPr/>
          <p:nvPr/>
        </p:nvCxnSpPr>
        <p:spPr>
          <a:xfrm xmlns:a="http://schemas.openxmlformats.org/drawingml/2006/main">
            <a:off x="6340394" y="1162051"/>
            <a:ext cx="2138100" cy="24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8">
            <a:extLst xmlns:a="http://schemas.openxmlformats.org/drawingml/2006/main">
              <a:ext uri="{FF2B5EF4-FFF2-40B4-BE49-F238E27FC236}">
                <a16:creationId xmlns:a16="http://schemas.microsoft.com/office/drawing/2014/main" id="{FCEA4B80-B51C-49BD-803F-2994E37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3778" y="796047"/>
            <a:ext cx="284700" cy="28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8" name="Google Shape;178;p28">
            <a:extLst xmlns:a="http://schemas.openxmlformats.org/drawingml/2006/main">
              <a:ext uri="{FF2B5EF4-FFF2-40B4-BE49-F238E27FC236}">
                <a16:creationId xmlns:a16="http://schemas.microsoft.com/office/drawing/2014/main" id="{AD4E3855-91F4-4B52-9649-6C3A50BB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941" y="883258"/>
            <a:ext cx="139423" cy="139423"/>
          </a:xfrm>
          <a:custGeom xmlns:a="http://schemas.openxmlformats.org/drawingml/2006/main">
            <a:rect l="l" t="t" r="r" b="b"/>
            <a:pathLst>
              <a:path w="228600" h="228600">
                <a:moveTo>
                  <a:pt x="224990" y="85687"/>
                </a:moveTo>
                <a:cubicBezTo>
                  <a:pt x="227343" y="94831"/>
                  <a:pt x="228600" y="104423"/>
                  <a:pt x="228600" y="114300"/>
                </a:cubicBezTo>
                <a:cubicBezTo>
                  <a:pt x="228600" y="177422"/>
                  <a:pt x="177422" y="228600"/>
                  <a:pt x="114300" y="228600"/>
                </a:cubicBezTo>
                <a:cubicBezTo>
                  <a:pt x="51178" y="228600"/>
                  <a:pt x="0" y="177422"/>
                  <a:pt x="0" y="114300"/>
                </a:cubicBezTo>
                <a:cubicBezTo>
                  <a:pt x="0" y="51178"/>
                  <a:pt x="51178" y="0"/>
                  <a:pt x="114300" y="0"/>
                </a:cubicBezTo>
                <a:cubicBezTo>
                  <a:pt x="124177" y="0"/>
                  <a:pt x="133769" y="1257"/>
                  <a:pt x="142904" y="3610"/>
                </a:cubicBezTo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9" name="Google Shape;179;p28">
            <a:extLst xmlns:a="http://schemas.openxmlformats.org/drawingml/2006/main">
              <a:ext uri="{FF2B5EF4-FFF2-40B4-BE49-F238E27FC236}">
                <a16:creationId xmlns:a16="http://schemas.microsoft.com/office/drawing/2014/main" id="{557708CB-5C6D-4703-BB59-5D5AA923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0988" y="912305"/>
            <a:ext cx="81330" cy="81330"/>
          </a:xfrm>
          <a:custGeom xmlns:a="http://schemas.openxmlformats.org/drawingml/2006/main">
            <a:rect l="l" t="t" r="r" b="b"/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0" name="Google Shape;180;p28">
            <a:extLst xmlns:a="http://schemas.openxmlformats.org/drawingml/2006/main">
              <a:ext uri="{FF2B5EF4-FFF2-40B4-BE49-F238E27FC236}">
                <a16:creationId xmlns:a16="http://schemas.microsoft.com/office/drawing/2014/main" id="{38707DCE-F3BA-45B9-9B92-1AB5AA8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1653" y="860021"/>
            <a:ext cx="92948" cy="92948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1" name="Google Shape;181;p28">
            <a:extLst xmlns:a="http://schemas.openxmlformats.org/drawingml/2006/main">
              <a:ext uri="{FF2B5EF4-FFF2-40B4-BE49-F238E27FC236}">
                <a16:creationId xmlns:a16="http://schemas.microsoft.com/office/drawing/2014/main" id="{4E5B0383-5684-4580-A2D6-2EFA38C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2318" y="854212"/>
            <a:ext cx="58093" cy="58093"/>
          </a:xfrm>
          <a:custGeom xmlns:a="http://schemas.openxmlformats.org/drawingml/2006/main">
            <a:rect l="l" t="t" r="r" b="b"/>
            <a:pathLst>
              <a:path w="95250" h="95250">
                <a:moveTo>
                  <a:pt x="47625" y="47625"/>
                </a:moveTo>
                <a:lnTo>
                  <a:pt x="38100" y="0"/>
                </a:lnTo>
                <a:lnTo>
                  <a:pt x="0" y="38100"/>
                </a:lnTo>
                <a:lnTo>
                  <a:pt x="9525" y="85725"/>
                </a:lnTo>
                <a:lnTo>
                  <a:pt x="57150" y="95250"/>
                </a:lnTo>
                <a:lnTo>
                  <a:pt x="95250" y="5715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2" name="Google Shape;182;p28">
            <a:extLst xmlns:a="http://schemas.openxmlformats.org/drawingml/2006/main">
              <a:ext uri="{FF2B5EF4-FFF2-40B4-BE49-F238E27FC236}">
                <a16:creationId xmlns:a16="http://schemas.microsoft.com/office/drawing/2014/main" id="{93201C1A-58A8-4CF2-8ADD-3EC5536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150" y="796047"/>
            <a:ext cx="284700" cy="28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3" name="Google Shape;183;p28">
            <a:extLst xmlns:a="http://schemas.openxmlformats.org/drawingml/2006/main">
              <a:ext uri="{FF2B5EF4-FFF2-40B4-BE49-F238E27FC236}">
                <a16:creationId xmlns:a16="http://schemas.microsoft.com/office/drawing/2014/main" id="{A4B0845F-8E3A-4105-A72A-F8402EA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853" y="2380300"/>
            <a:ext cx="2340000" cy="36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Explore evidence in context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4" name="Google Shape;184;p28">
            <a:extLst xmlns:a="http://schemas.openxmlformats.org/drawingml/2006/main">
              <a:ext uri="{FF2B5EF4-FFF2-40B4-BE49-F238E27FC236}">
                <a16:creationId xmlns:a16="http://schemas.microsoft.com/office/drawing/2014/main" id="{6E3022B1-2C82-45DB-AD0B-E0928FD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63" y="1192150"/>
            <a:ext cx="2535300" cy="113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5600" lvl="0" indent="-14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Char char="→"/>
            </a:pPr>
            <a:r>
              <a:rPr sz="8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Unifies fragmented public and proprietary evidence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165600" lvl="0" indent="-14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Char char="→"/>
            </a:pPr>
            <a:r>
              <a:rPr sz="8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Creates an auditable, reusable graph asset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165600" lvl="0" indent="-14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Char char="→"/>
            </a:pPr>
            <a:r>
              <a:rPr sz="8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Gives teams a shared view of disease biology and supporting evidence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" name="Google Shape;185;p28">
            <a:extLst xmlns:a="http://schemas.openxmlformats.org/drawingml/2006/main">
              <a:ext uri="{FF2B5EF4-FFF2-40B4-BE49-F238E27FC236}">
                <a16:creationId xmlns:a16="http://schemas.microsoft.com/office/drawing/2014/main" id="{AA0491CD-E0FA-4BEC-A1DC-DE7FDFD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950" y="1226925"/>
            <a:ext cx="2535300" cy="118872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Industry: Life sciences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Business Function: R&amp;D decision support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Value: Faster, more traceable target-evidence review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80" name="Google Shape;18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fc3c8ce0c4e5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5726" y="2472599"/>
            <a:ext cx="135000" cy="1694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7" name="Google Shape;187;p28">
            <a:extLst xmlns:a="http://schemas.openxmlformats.org/drawingml/2006/main">
              <a:ext uri="{FF2B5EF4-FFF2-40B4-BE49-F238E27FC236}">
                <a16:creationId xmlns:a16="http://schemas.microsoft.com/office/drawing/2014/main" id="{87D4E97B-6D85-4274-96B9-D734B0F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820" y="821683"/>
            <a:ext cx="213360" cy="198120"/>
          </a:xfrm>
          <a:custGeom xmlns:a="http://schemas.openxmlformats.org/drawingml/2006/main">
            <a:rect l="l" t="t" r="r" b="b"/>
            <a:pathLst>
              <a:path w="266700" h="247650">
                <a:moveTo>
                  <a:pt x="133350" y="0"/>
                </a:moveTo>
                <a:lnTo>
                  <a:pt x="174555" y="83477"/>
                </a:lnTo>
                <a:lnTo>
                  <a:pt x="266700" y="96869"/>
                </a:lnTo>
                <a:lnTo>
                  <a:pt x="200025" y="161858"/>
                </a:lnTo>
                <a:lnTo>
                  <a:pt x="215760" y="253632"/>
                </a:lnTo>
                <a:lnTo>
                  <a:pt x="133350" y="210322"/>
                </a:lnTo>
                <a:lnTo>
                  <a:pt x="50940" y="253632"/>
                </a:lnTo>
                <a:lnTo>
                  <a:pt x="66675" y="161858"/>
                </a:lnTo>
                <a:lnTo>
                  <a:pt x="0" y="96869"/>
                </a:lnTo>
                <a:lnTo>
                  <a:pt x="92145" y="834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7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8" name="Google Shape;188;p28">
            <a:extLst xmlns:a="http://schemas.openxmlformats.org/drawingml/2006/main">
              <a:ext uri="{FF2B5EF4-FFF2-40B4-BE49-F238E27FC236}">
                <a16:creationId xmlns:a16="http://schemas.microsoft.com/office/drawing/2014/main" id="{46B958F6-BA4A-4FA7-AFDC-CF1EBC7D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600" y="798722"/>
            <a:ext cx="284700" cy="28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0" name="Google Shape;190;p28">
            <a:extLst xmlns:a="http://schemas.openxmlformats.org/drawingml/2006/main">
              <a:ext uri="{FF2B5EF4-FFF2-40B4-BE49-F238E27FC236}">
                <a16:creationId xmlns:a16="http://schemas.microsoft.com/office/drawing/2014/main" id="{E6FEFD5F-8A98-45F4-89A6-15A17F39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4100" y="945745"/>
            <a:ext cx="47076" cy="37338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1" name="Google Shape;191;p28">
            <a:extLst xmlns:a="http://schemas.openxmlformats.org/drawingml/2006/main">
              <a:ext uri="{FF2B5EF4-FFF2-40B4-BE49-F238E27FC236}">
                <a16:creationId xmlns:a16="http://schemas.microsoft.com/office/drawing/2014/main" id="{9B12ACBF-35BE-4CD0-AB7A-1BC5284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4677" y="903740"/>
            <a:ext cx="176536" cy="107347"/>
          </a:xfrm>
          <a:custGeom xmlns:a="http://schemas.openxmlformats.org/drawingml/2006/main">
            <a:rect l="l" t="t" r="r" b="b"/>
            <a:pathLst>
              <a:path w="285750" h="219075">
                <a:moveTo>
                  <a:pt x="171450" y="0"/>
                </a:moveTo>
                <a:lnTo>
                  <a:pt x="285750" y="0"/>
                </a:lnTo>
                <a:lnTo>
                  <a:pt x="285750" y="219075"/>
                </a:lnTo>
                <a:lnTo>
                  <a:pt x="0" y="219075"/>
                </a:lnTo>
                <a:lnTo>
                  <a:pt x="0" y="0"/>
                </a:lnTo>
                <a:lnTo>
                  <a:pt x="114300" y="0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2" name="Google Shape;192;p28">
            <a:extLst xmlns:a="http://schemas.openxmlformats.org/drawingml/2006/main">
              <a:ext uri="{FF2B5EF4-FFF2-40B4-BE49-F238E27FC236}">
                <a16:creationId xmlns:a16="http://schemas.microsoft.com/office/drawing/2014/main" id="{E09BF610-EF0B-4A02-B4F7-E7D19270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5291" y="871069"/>
            <a:ext cx="35307" cy="46672"/>
          </a:xfrm>
          <a:custGeom xmlns:a="http://schemas.openxmlformats.org/drawingml/2006/main">
            <a:rect l="l" t="t" r="r" b="b"/>
            <a:pathLst>
              <a:path w="57150" h="95250">
                <a:moveTo>
                  <a:pt x="57150" y="95250"/>
                </a:moveTo>
                <a:lnTo>
                  <a:pt x="0" y="95250"/>
                </a:lnTo>
                <a:lnTo>
                  <a:pt x="0" y="28575"/>
                </a:lnTo>
                <a:cubicBezTo>
                  <a:pt x="0" y="12792"/>
                  <a:pt x="12792" y="0"/>
                  <a:pt x="28575" y="0"/>
                </a:cubicBezTo>
                <a:lnTo>
                  <a:pt x="28575" y="0"/>
                </a:lnTo>
                <a:cubicBezTo>
                  <a:pt x="44358" y="0"/>
                  <a:pt x="57150" y="12792"/>
                  <a:pt x="57150" y="28575"/>
                </a:cubicBezTo>
                <a:lnTo>
                  <a:pt x="57150" y="9525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3" name="Google Shape;193;p28">
            <a:extLst xmlns:a="http://schemas.openxmlformats.org/drawingml/2006/main">
              <a:ext uri="{FF2B5EF4-FFF2-40B4-BE49-F238E27FC236}">
                <a16:creationId xmlns:a16="http://schemas.microsoft.com/office/drawing/2014/main" id="{B66EFBFD-1819-414A-9ED4-9082611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4714" y="950413"/>
            <a:ext cx="47076" cy="4704"/>
          </a:xfrm>
          <a:custGeom xmlns:a="http://schemas.openxmlformats.org/drawingml/2006/main">
            <a:rect l="l" t="t" r="r" b="b"/>
            <a:pathLst>
              <a:path w="76200" h="120000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4" name="Google Shape;194;p28">
            <a:extLst xmlns:a="http://schemas.openxmlformats.org/drawingml/2006/main">
              <a:ext uri="{FF2B5EF4-FFF2-40B4-BE49-F238E27FC236}">
                <a16:creationId xmlns:a16="http://schemas.microsoft.com/office/drawing/2014/main" id="{3584E147-6CDE-43F6-B82B-5E60F6D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4714" y="978416"/>
            <a:ext cx="47076" cy="4704"/>
          </a:xfrm>
          <a:custGeom xmlns:a="http://schemas.openxmlformats.org/drawingml/2006/main">
            <a:rect l="l" t="t" r="r" b="b"/>
            <a:pathLst>
              <a:path w="76200" h="120000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5" name="Google Shape;195;p28">
            <a:extLst xmlns:a="http://schemas.openxmlformats.org/drawingml/2006/main">
              <a:ext uri="{FF2B5EF4-FFF2-40B4-BE49-F238E27FC236}">
                <a16:creationId xmlns:a16="http://schemas.microsoft.com/office/drawing/2014/main" id="{15FA0FFA-C67D-4508-81E1-D772C4C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60" y="306775"/>
            <a:ext cx="750060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chemeClr val="lt1"/>
                </a:solidFill>
                <a:latin typeface="Spectral"/>
                <a:ea typeface="Spectral"/>
                <a:cs typeface="Spectral"/>
              </a:rPr>
              <a:t>Golden Demo | Knowledge Graph (Part 1)</a:t>
            </a:r>
            <a:endParaRPr sz="800" b="1">
              <a:solidFill>
                <a:schemeClr val="dk2"/>
              </a:solidFill>
              <a:latin typeface="Spectral"/>
              <a:ea typeface="Spectral"/>
              <a:cs typeface="Spectral"/>
            </a:endParaRPr>
          </a:p>
        </p:txBody>
      </p:sp>
      <p:pic>
        <p:nvPicPr>
          <p:cNvPr id="289" name="Google Shape;19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f437101e374c4a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7563" y="2886300"/>
            <a:ext cx="2555663" cy="17165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290" name="Google Shape;197;p28"/>
          <p:cNvCxnSpPr>
            <a:stCxn xmlns:a="http://schemas.openxmlformats.org/drawingml/2006/main" id="198" idx="3"/>
          </p:cNvCxnSpPr>
          <p:nvPr/>
        </p:nvCxnSpPr>
        <p:spPr>
          <a:xfrm xmlns:a="http://schemas.openxmlformats.org/drawingml/2006/main" rot="10800000" flipH="1">
            <a:off x="2283275" y="3621050"/>
            <a:ext cx="823800" cy="622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 cap="flat">
            <a:solidFill>
              <a:srgbClr val="00B2A9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91" name="Google Shape;199;p28"/>
          <p:cNvCxnSpPr>
            <a:stCxn xmlns:a="http://schemas.openxmlformats.org/drawingml/2006/main" id="200" idx="3"/>
          </p:cNvCxnSpPr>
          <p:nvPr/>
        </p:nvCxnSpPr>
        <p:spPr>
          <a:xfrm xmlns:a="http://schemas.openxmlformats.org/drawingml/2006/main">
            <a:off x="2283600" y="3329000"/>
            <a:ext cx="823500" cy="2919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 cap="flat">
            <a:solidFill>
              <a:srgbClr val="00B2A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1" name="Google Shape;201;p28">
            <a:extLst xmlns:a="http://schemas.openxmlformats.org/drawingml/2006/main">
              <a:ext uri="{FF2B5EF4-FFF2-40B4-BE49-F238E27FC236}">
                <a16:creationId xmlns:a16="http://schemas.microsoft.com/office/drawing/2014/main" id="{1EA2A572-126E-4023-9AEE-8F74757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50" y="2380300"/>
            <a:ext cx="2098200" cy="551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Connect and govern biomedical evidence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93" name="Google Shape;202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1fc3c8ce0c4e50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5566" y="2487049"/>
            <a:ext cx="135000" cy="1694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28">
            <a:extLst xmlns:a="http://schemas.openxmlformats.org/drawingml/2006/main">
              <a:ext uri="{FF2B5EF4-FFF2-40B4-BE49-F238E27FC236}">
                <a16:creationId xmlns:a16="http://schemas.microsoft.com/office/drawing/2014/main" id="{56E5D595-45C4-4CEE-8853-EDC7A99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9" y="4429700"/>
            <a:ext cx="20070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0" name="Google Shape;200;p28">
            <a:extLst xmlns:a="http://schemas.openxmlformats.org/drawingml/2006/main">
              <a:ext uri="{FF2B5EF4-FFF2-40B4-BE49-F238E27FC236}">
                <a16:creationId xmlns:a16="http://schemas.microsoft.com/office/drawing/2014/main" id="{81B29718-B0DF-4AAD-86B0-A9C56F2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0" y="2886650"/>
            <a:ext cx="1549800" cy="884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36801" lvl="0" indent="-14355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sz="9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Public biomedical
sources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8" name="Google Shape;198;p28">
            <a:extLst xmlns:a="http://schemas.openxmlformats.org/drawingml/2006/main">
              <a:ext uri="{FF2B5EF4-FFF2-40B4-BE49-F238E27FC236}">
                <a16:creationId xmlns:a16="http://schemas.microsoft.com/office/drawing/2014/main" id="{767E648D-4C6D-4F4B-9411-F57983B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5" y="3904550"/>
            <a:ext cx="1549800" cy="67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36801" lvl="0" indent="-14355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sz="9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Proprietary
knowledge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97" name="Google Shape;204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7fa03a4be14c24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550" y="3088450"/>
            <a:ext cx="213350" cy="21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8" name="Google Shape;205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43c51368eb4d73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550" y="3340325"/>
            <a:ext cx="213350" cy="21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9" name="Google Shape;20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8f697ff12341c1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550" y="4138850"/>
            <a:ext cx="213350" cy="21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0" name="Google Shape;207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5f1e496d5c4c6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2408" y="2886300"/>
            <a:ext cx="2292901" cy="1708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095542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chemeClr val="lt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56" name="Google Shape;160;p28"/>
          <p:cNvPicPr>
            <a:picLocks xmlns:a="http://schemas.openxmlformats.org/drawingml/2006/main" noChangeAspect="1"/>
          </p:cNvPicPr>
          <p:nvPr/>
        </p:nvPicPr>
        <p:blipFill rotWithShape="1">
          <a:blip xmlns:r="http://schemas.openxmlformats.org/officeDocument/2006/relationships" xmlns:a="http://schemas.openxmlformats.org/drawingml/2006/main" r:embed="R1b4185bd5ca3455b">
            <a:alphaModFix amt="40000"/>
          </a:blip>
          <a:srcRect xmlns:a="http://schemas.openxmlformats.org/drawingml/2006/main" l="0" t="0" r="0" b="0"/>
          <a:stretch xmlns:a="http://schemas.openxmlformats.org/drawingml/2006/main"/>
        </p:blipFill>
        <p:spPr>
          <a:xfrm xmlns:a="http://schemas.openxmlformats.org/drawingml/2006/main">
            <a:off x="364652" y="227982"/>
            <a:ext cx="369154" cy="30472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61" name="Google Shape;161;p28">
            <a:extLst xmlns:a="http://schemas.openxmlformats.org/drawingml/2006/main">
              <a:ext uri="{FF2B5EF4-FFF2-40B4-BE49-F238E27FC236}">
                <a16:creationId xmlns:a16="http://schemas.microsoft.com/office/drawing/2014/main" id="{217B8E17-DE35-47B5-BFDB-7D46AC4C9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000" y="1187775"/>
            <a:ext cx="2644500" cy="77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 b="1">
              <a:solidFill>
                <a:srgbClr val="00B2A9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62" name="Google Shape;162;p28">
            <a:extLst xmlns:a="http://schemas.openxmlformats.org/drawingml/2006/main">
              <a:ext uri="{FF2B5EF4-FFF2-40B4-BE49-F238E27FC236}">
                <a16:creationId xmlns:a16="http://schemas.microsoft.com/office/drawing/2014/main" id="{BA2592C5-52D6-402A-A69B-AC81D3F37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08940" y="2380300"/>
            <a:ext cx="2292900" cy="36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Explainable Ranking Flow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3" name="Google Shape;163;p28">
            <a:extLst xmlns:a="http://schemas.openxmlformats.org/drawingml/2006/main">
              <a:ext uri="{FF2B5EF4-FFF2-40B4-BE49-F238E27FC236}">
                <a16:creationId xmlns:a16="http://schemas.microsoft.com/office/drawing/2014/main" id="{3A5FA05A-A256-4829-9490-23F6DE0F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4899" y="296254"/>
            <a:ext cx="3119100" cy="2772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dk2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Life Sciences | Drug Discovery R&amp;D</a:t>
            </a:r>
            <a:endParaRPr sz="1100" b="1">
              <a:solidFill>
                <a:srgbClr val="FFFFFF"/>
              </a:solidFill>
              <a:latin typeface="Roboto"/>
              <a:ea typeface="Roboto"/>
              <a:cs typeface="Roboto"/>
            </a:endParaRPr>
          </a:p>
        </p:txBody>
      </p:sp>
      <p:cxnSp>
        <p:nvCxnSpPr>
          <p:cNvPr id="260" name="Google Shape;164;p28"/>
          <p:cNvCxnSpPr/>
          <p:nvPr/>
        </p:nvCxnSpPr>
        <p:spPr>
          <a:xfrm xmlns:a="http://schemas.openxmlformats.org/drawingml/2006/main">
            <a:off x="5954221" y="3651804"/>
            <a:ext cx="353700" cy="6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 cap="flat">
            <a:solidFill>
              <a:srgbClr val="00B2A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165" name="Google Shape;165;p28">
            <a:extLst xmlns:a="http://schemas.openxmlformats.org/drawingml/2006/main">
              <a:ext uri="{FF2B5EF4-FFF2-40B4-BE49-F238E27FC236}">
                <a16:creationId xmlns:a16="http://schemas.microsoft.com/office/drawing/2014/main" id="{EDF98D6F-451A-4CDB-A126-E133F2FE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206" y="796095"/>
            <a:ext cx="26421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66" name="Google Shape;166;p28">
            <a:extLst xmlns:a="http://schemas.openxmlformats.org/drawingml/2006/main">
              <a:ext uri="{FF2B5EF4-FFF2-40B4-BE49-F238E27FC236}">
                <a16:creationId xmlns:a16="http://schemas.microsoft.com/office/drawing/2014/main" id="{CD6EEBD8-111A-4BD9-B3B2-88CC6AA66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71" y="926486"/>
            <a:ext cx="23823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221C35"/>
                </a:solidFill>
                <a:latin typeface="Roboto"/>
                <a:ea typeface="Roboto"/>
                <a:cs typeface="Roboto"/>
              </a:rPr>
              <a:t>Business Challenge</a:t>
            </a:r>
            <a:endParaRPr b="1">
              <a:solidFill>
                <a:srgbClr val="221C35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67" name="Google Shape;167;p28">
            <a:extLst xmlns:a="http://schemas.openxmlformats.org/drawingml/2006/main">
              <a:ext uri="{FF2B5EF4-FFF2-40B4-BE49-F238E27FC236}">
                <a16:creationId xmlns:a16="http://schemas.microsoft.com/office/drawing/2014/main" id="{ECBB02D0-1770-4B36-ACB5-DD8BD028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475" y="1226925"/>
            <a:ext cx="2458800" cy="935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800">
                <a:latin typeface="Roboto"/>
                <a:ea typeface="Roboto"/>
                <a:cs typeface="Roboto"/>
              </a:rPr>
              <a:t>A ranked gene list is not enough to drive a portfolio decision. R&amp;D teams need a shortlist they can interrogate, filter, and defend—with clear evidence behind each candidate.</a:t>
            </a:r>
            <a:endParaRPr/>
          </a:p>
        </p:txBody>
      </p:sp>
      <p:cxnSp>
        <p:nvCxnSpPr>
          <p:cNvPr id="264" name="Google Shape;168;p28"/>
          <p:cNvCxnSpPr/>
          <p:nvPr/>
        </p:nvCxnSpPr>
        <p:spPr>
          <a:xfrm xmlns:a="http://schemas.openxmlformats.org/drawingml/2006/main">
            <a:off x="446471" y="1162051"/>
            <a:ext cx="21912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9" name="Google Shape;169;p28">
            <a:extLst xmlns:a="http://schemas.openxmlformats.org/drawingml/2006/main">
              <a:ext uri="{FF2B5EF4-FFF2-40B4-BE49-F238E27FC236}">
                <a16:creationId xmlns:a16="http://schemas.microsoft.com/office/drawing/2014/main" id="{C67B5789-F243-454F-A46F-C8D4252D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53350" y="796000"/>
            <a:ext cx="26445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0" name="Google Shape;170;p28">
            <a:extLst xmlns:a="http://schemas.openxmlformats.org/drawingml/2006/main">
              <a:ext uri="{FF2B5EF4-FFF2-40B4-BE49-F238E27FC236}">
                <a16:creationId xmlns:a16="http://schemas.microsoft.com/office/drawing/2014/main" id="{3C0DF14D-38CC-43F4-A366-A8ACED046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3750" y="926486"/>
            <a:ext cx="19722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221C35"/>
                </a:solidFill>
                <a:latin typeface="Roboto Condensed"/>
                <a:ea typeface="Roboto Condensed"/>
                <a:cs typeface="Roboto Condensed"/>
              </a:rPr>
              <a:t>Business Value</a:t>
            </a:r>
            <a:endParaRPr b="1">
              <a:solidFill>
                <a:srgbClr val="221C35"/>
              </a:solidFill>
              <a:latin typeface="Roboto Condensed"/>
              <a:ea typeface="Roboto Condensed"/>
              <a:cs typeface="Roboto Condensed"/>
            </a:endParaRPr>
          </a:p>
        </p:txBody>
      </p:sp>
      <p:cxnSp>
        <p:nvCxnSpPr>
          <p:cNvPr id="267" name="Google Shape;171;p28"/>
          <p:cNvCxnSpPr/>
          <p:nvPr/>
        </p:nvCxnSpPr>
        <p:spPr>
          <a:xfrm xmlns:a="http://schemas.openxmlformats.org/drawingml/2006/main">
            <a:off x="3353194" y="1162051"/>
            <a:ext cx="21351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2" name="Google Shape;172;p28">
            <a:extLst xmlns:a="http://schemas.openxmlformats.org/drawingml/2006/main">
              <a:ext uri="{FF2B5EF4-FFF2-40B4-BE49-F238E27FC236}">
                <a16:creationId xmlns:a16="http://schemas.microsoft.com/office/drawing/2014/main" id="{7EEA30A7-918C-42A6-A205-A2925F7AE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84050" y="796100"/>
            <a:ext cx="2644500" cy="1432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3" name="Google Shape;173;p28">
            <a:extLst xmlns:a="http://schemas.openxmlformats.org/drawingml/2006/main">
              <a:ext uri="{FF2B5EF4-FFF2-40B4-BE49-F238E27FC236}">
                <a16:creationId xmlns:a16="http://schemas.microsoft.com/office/drawing/2014/main" id="{0FC73EF6-5D4B-4E47-89E9-282B8EA82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950" y="884186"/>
            <a:ext cx="2535300" cy="21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>
                <a:solidFill>
                  <a:srgbClr val="221C35"/>
                </a:solidFill>
                <a:latin typeface="Roboto Condensed"/>
                <a:ea typeface="Roboto Condensed"/>
                <a:cs typeface="Roboto Condensed"/>
              </a:rPr>
              <a:t>Business Outcome</a:t>
            </a:r>
            <a:endParaRPr b="1">
              <a:solidFill>
                <a:srgbClr val="221C35"/>
              </a:solidFill>
              <a:latin typeface="Roboto Condensed"/>
              <a:ea typeface="Roboto Condensed"/>
              <a:cs typeface="Roboto Condensed"/>
            </a:endParaRPr>
          </a:p>
        </p:txBody>
      </p:sp>
      <p:cxnSp>
        <p:nvCxnSpPr>
          <p:cNvPr id="270" name="Google Shape;174;p28"/>
          <p:cNvCxnSpPr/>
          <p:nvPr/>
        </p:nvCxnSpPr>
        <p:spPr>
          <a:xfrm xmlns:a="http://schemas.openxmlformats.org/drawingml/2006/main">
            <a:off x="6340394" y="1162051"/>
            <a:ext cx="2138100" cy="2400"/>
          </a:xfrm>
          <a:prstGeom xmlns:a="http://schemas.openxmlformats.org/drawingml/2006/main" prst="straightConnector1">
            <a:avLst/>
          </a:prstGeom>
          <a:ln xmlns:a="http://schemas.openxmlformats.org/drawingml/2006/main" w="9525" cap="flat">
            <a:solidFill>
              <a:srgbClr val="EFEFEF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6" name="Google Shape;176;p28">
            <a:extLst xmlns:a="http://schemas.openxmlformats.org/drawingml/2006/main">
              <a:ext uri="{FF2B5EF4-FFF2-40B4-BE49-F238E27FC236}">
                <a16:creationId xmlns:a16="http://schemas.microsoft.com/office/drawing/2014/main" id="{FCEA4B80-B51C-49BD-803F-2994E37E2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443778" y="796047"/>
            <a:ext cx="284700" cy="28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8" name="Google Shape;178;p28">
            <a:extLst xmlns:a="http://schemas.openxmlformats.org/drawingml/2006/main">
              <a:ext uri="{FF2B5EF4-FFF2-40B4-BE49-F238E27FC236}">
                <a16:creationId xmlns:a16="http://schemas.microsoft.com/office/drawing/2014/main" id="{AD4E3855-91F4-4B52-9649-6C3A50BB8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01941" y="883258"/>
            <a:ext cx="139423" cy="139423"/>
          </a:xfrm>
          <a:custGeom xmlns:a="http://schemas.openxmlformats.org/drawingml/2006/main">
            <a:rect l="l" t="t" r="r" b="b"/>
            <a:pathLst>
              <a:path w="228600" h="228600">
                <a:moveTo>
                  <a:pt x="224990" y="85687"/>
                </a:moveTo>
                <a:cubicBezTo>
                  <a:pt x="227343" y="94831"/>
                  <a:pt x="228600" y="104423"/>
                  <a:pt x="228600" y="114300"/>
                </a:cubicBezTo>
                <a:cubicBezTo>
                  <a:pt x="228600" y="177422"/>
                  <a:pt x="177422" y="228600"/>
                  <a:pt x="114300" y="228600"/>
                </a:cubicBezTo>
                <a:cubicBezTo>
                  <a:pt x="51178" y="228600"/>
                  <a:pt x="0" y="177422"/>
                  <a:pt x="0" y="114300"/>
                </a:cubicBezTo>
                <a:cubicBezTo>
                  <a:pt x="0" y="51178"/>
                  <a:pt x="51178" y="0"/>
                  <a:pt x="114300" y="0"/>
                </a:cubicBezTo>
                <a:cubicBezTo>
                  <a:pt x="124177" y="0"/>
                  <a:pt x="133769" y="1257"/>
                  <a:pt x="142904" y="3610"/>
                </a:cubicBezTo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79" name="Google Shape;179;p28">
            <a:extLst xmlns:a="http://schemas.openxmlformats.org/drawingml/2006/main">
              <a:ext uri="{FF2B5EF4-FFF2-40B4-BE49-F238E27FC236}">
                <a16:creationId xmlns:a16="http://schemas.microsoft.com/office/drawing/2014/main" id="{557708CB-5C6D-4703-BB59-5D5AA923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30988" y="912305"/>
            <a:ext cx="81330" cy="81330"/>
          </a:xfrm>
          <a:custGeom xmlns:a="http://schemas.openxmlformats.org/drawingml/2006/main">
            <a:rect l="l" t="t" r="r" b="b"/>
            <a:pathLst>
              <a:path w="133350" h="133350">
                <a:moveTo>
                  <a:pt x="133350" y="66675"/>
                </a:moveTo>
                <a:cubicBezTo>
                  <a:pt x="133350" y="103499"/>
                  <a:pt x="103499" y="133350"/>
                  <a:pt x="66675" y="133350"/>
                </a:cubicBezTo>
                <a:cubicBezTo>
                  <a:pt x="29851" y="133350"/>
                  <a:pt x="0" y="103499"/>
                  <a:pt x="0" y="66675"/>
                </a:cubicBezTo>
                <a:cubicBezTo>
                  <a:pt x="0" y="29851"/>
                  <a:pt x="29851" y="0"/>
                  <a:pt x="66675" y="0"/>
                </a:cubicBezTo>
                <a:cubicBezTo>
                  <a:pt x="103499" y="0"/>
                  <a:pt x="133350" y="29851"/>
                  <a:pt x="133350" y="66675"/>
                </a:cubicBez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0" name="Google Shape;180;p28">
            <a:extLst xmlns:a="http://schemas.openxmlformats.org/drawingml/2006/main">
              <a:ext uri="{FF2B5EF4-FFF2-40B4-BE49-F238E27FC236}">
                <a16:creationId xmlns:a16="http://schemas.microsoft.com/office/drawing/2014/main" id="{38707DCE-F3BA-45B9-9B92-1AB5AA82C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571653" y="860021"/>
            <a:ext cx="92948" cy="92948"/>
          </a:xfrm>
          <a:custGeom xmlns:a="http://schemas.openxmlformats.org/drawingml/2006/main">
            <a:rect l="l" t="t" r="r" b="b"/>
            <a:pathLst>
              <a:path w="152400" h="152400">
                <a:moveTo>
                  <a:pt x="0" y="152400"/>
                </a:moveTo>
                <a:lnTo>
                  <a:pt x="152400" y="0"/>
                </a:lnTo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1" name="Google Shape;181;p28">
            <a:extLst xmlns:a="http://schemas.openxmlformats.org/drawingml/2006/main">
              <a:ext uri="{FF2B5EF4-FFF2-40B4-BE49-F238E27FC236}">
                <a16:creationId xmlns:a16="http://schemas.microsoft.com/office/drawing/2014/main" id="{4E5B0383-5684-4580-A2D6-2EFA38C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612318" y="854212"/>
            <a:ext cx="58093" cy="58093"/>
          </a:xfrm>
          <a:custGeom xmlns:a="http://schemas.openxmlformats.org/drawingml/2006/main">
            <a:rect l="l" t="t" r="r" b="b"/>
            <a:pathLst>
              <a:path w="95250" h="95250">
                <a:moveTo>
                  <a:pt x="47625" y="47625"/>
                </a:moveTo>
                <a:lnTo>
                  <a:pt x="38100" y="0"/>
                </a:lnTo>
                <a:lnTo>
                  <a:pt x="0" y="38100"/>
                </a:lnTo>
                <a:lnTo>
                  <a:pt x="9525" y="85725"/>
                </a:lnTo>
                <a:lnTo>
                  <a:pt x="57150" y="95250"/>
                </a:lnTo>
                <a:lnTo>
                  <a:pt x="95250" y="57150"/>
                </a:lnTo>
                <a:close/>
              </a:path>
            </a:pathLst>
          </a:custGeom>
          <a:solidFill xmlns:a="http://schemas.openxmlformats.org/drawingml/2006/main">
            <a:schemeClr val="accent4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2" name="Google Shape;182;p28">
            <a:extLst xmlns:a="http://schemas.openxmlformats.org/drawingml/2006/main">
              <a:ext uri="{FF2B5EF4-FFF2-40B4-BE49-F238E27FC236}">
                <a16:creationId xmlns:a16="http://schemas.microsoft.com/office/drawing/2014/main" id="{93201C1A-58A8-4CF2-8ADD-3EC5536AB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3150" y="796047"/>
            <a:ext cx="284700" cy="28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3" name="Google Shape;183;p28">
            <a:extLst xmlns:a="http://schemas.openxmlformats.org/drawingml/2006/main">
              <a:ext uri="{FF2B5EF4-FFF2-40B4-BE49-F238E27FC236}">
                <a16:creationId xmlns:a16="http://schemas.microsoft.com/office/drawing/2014/main" id="{A4B0845F-8E3A-4105-A72A-F8402EA07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0853" y="2380300"/>
            <a:ext cx="2340000" cy="36725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Evidence paths for review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4" name="Google Shape;184;p28">
            <a:extLst xmlns:a="http://schemas.openxmlformats.org/drawingml/2006/main">
              <a:ext uri="{FF2B5EF4-FFF2-40B4-BE49-F238E27FC236}">
                <a16:creationId xmlns:a16="http://schemas.microsoft.com/office/drawing/2014/main" id="{6E3022B1-2C82-45DB-AD0B-E0928FDC4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63" y="1192150"/>
            <a:ext cx="2535300" cy="113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165600" lvl="0" indent="-14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Char char="→"/>
            </a:pPr>
            <a:r>
              <a:rPr sz="8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Ranks candidate targets for each disease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165600" lvl="0" indent="-14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Char char="→"/>
            </a:pPr>
            <a:r>
              <a:rPr sz="8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Explains why a candidate surfaced and how it connects to disease biology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165600" lvl="0" indent="-14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Font typeface="Roboto"/>
              <a:buChar char="→"/>
            </a:pPr>
            <a:r>
              <a:rPr sz="8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Lets scientists filter the list on their own decision criteria</a:t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None/>
            </a:pPr>
            <a:r>
              <a:t/>
            </a:r>
            <a:endParaRPr sz="8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85" name="Google Shape;185;p28">
            <a:extLst xmlns:a="http://schemas.openxmlformats.org/drawingml/2006/main">
              <a:ext uri="{FF2B5EF4-FFF2-40B4-BE49-F238E27FC236}">
                <a16:creationId xmlns:a16="http://schemas.microsoft.com/office/drawing/2014/main" id="{AA0491CD-E0FA-4BEC-A1DC-DE7FDFD29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7950" y="1226925"/>
            <a:ext cx="2535300" cy="10515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Validated champion: 0.823 macro AUC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Coverage: 670 diseases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rPr sz="900" b="1">
                <a:solidFill>
                  <a:schemeClr val="dk1"/>
                </a:solidFill>
                <a:latin typeface="Roboto"/>
                <a:ea typeface="Roboto"/>
                <a:cs typeface="Roboto"/>
              </a:rPr>
              <a:t>Value: A transparent shortlist for R&amp;D review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  <a:p xmlns:a="http://schemas.openxmlformats.org/drawingml/2006/main"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80" name="Google Shape;18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c7685b84e9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75726" y="2472599"/>
            <a:ext cx="135000" cy="1694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187" name="Google Shape;187;p28">
            <a:extLst xmlns:a="http://schemas.openxmlformats.org/drawingml/2006/main">
              <a:ext uri="{FF2B5EF4-FFF2-40B4-BE49-F238E27FC236}">
                <a16:creationId xmlns:a16="http://schemas.microsoft.com/office/drawing/2014/main" id="{87D4E97B-6D85-4274-96B9-D734B0FF0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8820" y="821683"/>
            <a:ext cx="213360" cy="198120"/>
          </a:xfrm>
          <a:custGeom xmlns:a="http://schemas.openxmlformats.org/drawingml/2006/main">
            <a:rect l="l" t="t" r="r" b="b"/>
            <a:pathLst>
              <a:path w="266700" h="247650">
                <a:moveTo>
                  <a:pt x="133350" y="0"/>
                </a:moveTo>
                <a:lnTo>
                  <a:pt x="174555" y="83477"/>
                </a:lnTo>
                <a:lnTo>
                  <a:pt x="266700" y="96869"/>
                </a:lnTo>
                <a:lnTo>
                  <a:pt x="200025" y="161858"/>
                </a:lnTo>
                <a:lnTo>
                  <a:pt x="215760" y="253632"/>
                </a:lnTo>
                <a:lnTo>
                  <a:pt x="133350" y="210322"/>
                </a:lnTo>
                <a:lnTo>
                  <a:pt x="50940" y="253632"/>
                </a:lnTo>
                <a:lnTo>
                  <a:pt x="66675" y="161858"/>
                </a:lnTo>
                <a:lnTo>
                  <a:pt x="0" y="96869"/>
                </a:lnTo>
                <a:lnTo>
                  <a:pt x="92145" y="83477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15875" cmpd="sng">
            <a:solidFill>
              <a:schemeClr val="lt1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88" name="Google Shape;188;p28">
            <a:extLst xmlns:a="http://schemas.openxmlformats.org/drawingml/2006/main">
              <a:ext uri="{FF2B5EF4-FFF2-40B4-BE49-F238E27FC236}">
                <a16:creationId xmlns:a16="http://schemas.microsoft.com/office/drawing/2014/main" id="{46B958F6-BA4A-4FA7-AFDC-CF1EBC7D3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0600" y="798722"/>
            <a:ext cx="284700" cy="2847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0" name="Google Shape;190;p28">
            <a:extLst xmlns:a="http://schemas.openxmlformats.org/drawingml/2006/main">
              <a:ext uri="{FF2B5EF4-FFF2-40B4-BE49-F238E27FC236}">
                <a16:creationId xmlns:a16="http://schemas.microsoft.com/office/drawing/2014/main" id="{E6FEFD5F-8A98-45F4-89A6-15A17F39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04100" y="945745"/>
            <a:ext cx="47076" cy="37338"/>
          </a:xfrm>
          <a:custGeom xmlns:a="http://schemas.openxmlformats.org/drawingml/2006/main">
            <a:rect l="l" t="t" r="r" b="b"/>
            <a:pathLst>
              <a:path w="76200" h="76200">
                <a:moveTo>
                  <a:pt x="0" y="0"/>
                </a:moveTo>
                <a:lnTo>
                  <a:pt x="76200" y="0"/>
                </a:lnTo>
                <a:lnTo>
                  <a:pt x="76200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1" name="Google Shape;191;p28">
            <a:extLst xmlns:a="http://schemas.openxmlformats.org/drawingml/2006/main">
              <a:ext uri="{FF2B5EF4-FFF2-40B4-BE49-F238E27FC236}">
                <a16:creationId xmlns:a16="http://schemas.microsoft.com/office/drawing/2014/main" id="{9B12ACBF-35BE-4CD0-AB7A-1BC52842A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674677" y="903740"/>
            <a:ext cx="176536" cy="107347"/>
          </a:xfrm>
          <a:custGeom xmlns:a="http://schemas.openxmlformats.org/drawingml/2006/main">
            <a:rect l="l" t="t" r="r" b="b"/>
            <a:pathLst>
              <a:path w="285750" h="219075">
                <a:moveTo>
                  <a:pt x="171450" y="0"/>
                </a:moveTo>
                <a:lnTo>
                  <a:pt x="285750" y="0"/>
                </a:lnTo>
                <a:lnTo>
                  <a:pt x="285750" y="219075"/>
                </a:lnTo>
                <a:lnTo>
                  <a:pt x="0" y="219075"/>
                </a:lnTo>
                <a:lnTo>
                  <a:pt x="0" y="0"/>
                </a:lnTo>
                <a:lnTo>
                  <a:pt x="114300" y="0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2" name="Google Shape;192;p28">
            <a:extLst xmlns:a="http://schemas.openxmlformats.org/drawingml/2006/main">
              <a:ext uri="{FF2B5EF4-FFF2-40B4-BE49-F238E27FC236}">
                <a16:creationId xmlns:a16="http://schemas.microsoft.com/office/drawing/2014/main" id="{E09BF610-EF0B-4A02-B4F7-E7D192707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45291" y="871069"/>
            <a:ext cx="35307" cy="46672"/>
          </a:xfrm>
          <a:custGeom xmlns:a="http://schemas.openxmlformats.org/drawingml/2006/main">
            <a:rect l="l" t="t" r="r" b="b"/>
            <a:pathLst>
              <a:path w="57150" h="95250">
                <a:moveTo>
                  <a:pt x="57150" y="95250"/>
                </a:moveTo>
                <a:lnTo>
                  <a:pt x="0" y="95250"/>
                </a:lnTo>
                <a:lnTo>
                  <a:pt x="0" y="28575"/>
                </a:lnTo>
                <a:cubicBezTo>
                  <a:pt x="0" y="12792"/>
                  <a:pt x="12792" y="0"/>
                  <a:pt x="28575" y="0"/>
                </a:cubicBezTo>
                <a:lnTo>
                  <a:pt x="28575" y="0"/>
                </a:lnTo>
                <a:cubicBezTo>
                  <a:pt x="44358" y="0"/>
                  <a:pt x="57150" y="12792"/>
                  <a:pt x="57150" y="28575"/>
                </a:cubicBezTo>
                <a:lnTo>
                  <a:pt x="57150" y="95250"/>
                </a:lnTo>
                <a:close/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3" name="Google Shape;193;p28">
            <a:extLst xmlns:a="http://schemas.openxmlformats.org/drawingml/2006/main">
              <a:ext uri="{FF2B5EF4-FFF2-40B4-BE49-F238E27FC236}">
                <a16:creationId xmlns:a16="http://schemas.microsoft.com/office/drawing/2014/main" id="{B66EFBFD-1819-414A-9ED4-908261112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4714" y="950413"/>
            <a:ext cx="47076" cy="4704"/>
          </a:xfrm>
          <a:custGeom xmlns:a="http://schemas.openxmlformats.org/drawingml/2006/main">
            <a:rect l="l" t="t" r="r" b="b"/>
            <a:pathLst>
              <a:path w="76200" h="120000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4" name="Google Shape;194;p28">
            <a:extLst xmlns:a="http://schemas.openxmlformats.org/drawingml/2006/main">
              <a:ext uri="{FF2B5EF4-FFF2-40B4-BE49-F238E27FC236}">
                <a16:creationId xmlns:a16="http://schemas.microsoft.com/office/drawing/2014/main" id="{3584E147-6CDE-43F6-B82B-5E60F6D53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2774714" y="978416"/>
            <a:ext cx="47076" cy="4704"/>
          </a:xfrm>
          <a:custGeom xmlns:a="http://schemas.openxmlformats.org/drawingml/2006/main">
            <a:rect l="l" t="t" r="r" b="b"/>
            <a:pathLst>
              <a:path w="76200" h="120000">
                <a:moveTo>
                  <a:pt x="0" y="0"/>
                </a:moveTo>
                <a:lnTo>
                  <a:pt x="76200" y="0"/>
                </a:lnTo>
              </a:path>
            </a:pathLst>
          </a:custGeom>
          <a:solidFill xmlns:a="http://schemas.openxmlformats.org/drawingml/2006/main">
            <a:schemeClr val="accent6"/>
          </a:solidFill>
          <a:ln xmlns:a="http://schemas.openxmlformats.org/drawingml/2006/main" w="9525" cmpd="sng">
            <a:solidFill>
              <a:srgbClr val="FFFFFF"/>
            </a:solidFill>
            <a:prstDash val="solid"/>
            <a:headEnd type="none" w="sm" len="sm"/>
            <a:tailEnd type="none" w="sm" len="sm"/>
          </a:ln>
        </p:spPr>
        <p:txBody>
          <a:bodyPr xmlns:a="http://schemas.openxmlformats.org/drawingml/2006/main" spcFirstLastPara="1" wrap="square" lIns="91425" tIns="45700" rIns="91425" bIns="45700" anchor="ctr">
            <a:noAutofit/>
          </a:bodyPr>
          <a:lstStyle xmlns:a="http://schemas.openxmlformats.org/drawingml/2006/main"/>
          <a:p xmlns:a="http://schemas.openxmlformats.org/drawingml/2006/main">
            <a:pPr marL="0" marR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221C34"/>
              </a:solidFill>
              <a:latin typeface="Source Sans Pro"/>
              <a:ea typeface="Source Sans Pro"/>
              <a:cs typeface="Source Sans Pro"/>
            </a:endParaRPr>
          </a:p>
        </p:txBody>
      </p:sp>
      <p:sp>
        <p:nvSpPr>
          <p:cNvPr id="195" name="Google Shape;195;p28">
            <a:extLst xmlns:a="http://schemas.openxmlformats.org/drawingml/2006/main">
              <a:ext uri="{FF2B5EF4-FFF2-40B4-BE49-F238E27FC236}">
                <a16:creationId xmlns:a16="http://schemas.microsoft.com/office/drawing/2014/main" id="{15FA0FFA-C67D-4508-81E1-D772C4C4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660" y="306775"/>
            <a:ext cx="7500600" cy="31851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900" b="1">
                <a:solidFill>
                  <a:schemeClr val="lt1"/>
                </a:solidFill>
                <a:latin typeface="Spectral"/>
                <a:ea typeface="Spectral"/>
                <a:cs typeface="Spectral"/>
              </a:rPr>
              <a:t>Golden Demo | Prioritizer (Part 2)</a:t>
            </a:r>
            <a:endParaRPr sz="800" b="1">
              <a:solidFill>
                <a:schemeClr val="dk2"/>
              </a:solidFill>
              <a:latin typeface="Spectral"/>
              <a:ea typeface="Spectral"/>
              <a:cs typeface="Spectral"/>
            </a:endParaRPr>
          </a:p>
        </p:txBody>
      </p:sp>
      <p:pic>
        <p:nvPicPr>
          <p:cNvPr id="289" name="Google Shape;19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d9a5128b24e96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177563" y="2886300"/>
            <a:ext cx="2555663" cy="171655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cxnSp>
        <p:nvCxnSpPr>
          <p:cNvPr id="290" name="Google Shape;197;p28"/>
          <p:cNvCxnSpPr>
            <a:stCxn xmlns:a="http://schemas.openxmlformats.org/drawingml/2006/main" id="198" idx="3"/>
          </p:cNvCxnSpPr>
          <p:nvPr/>
        </p:nvCxnSpPr>
        <p:spPr>
          <a:xfrm xmlns:a="http://schemas.openxmlformats.org/drawingml/2006/main" rot="10800000" flipH="1">
            <a:off x="2283275" y="3621050"/>
            <a:ext cx="823800" cy="6228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 cap="flat">
            <a:solidFill>
              <a:srgbClr val="00B2A9"/>
            </a:solidFill>
            <a:prstDash val="dot"/>
            <a:round/>
            <a:headEnd type="none" w="med" len="med"/>
            <a:tailEnd type="none" w="med" len="med"/>
          </a:ln>
        </p:spPr>
      </p:cxnSp>
      <p:cxnSp>
        <p:nvCxnSpPr>
          <p:cNvPr id="291" name="Google Shape;199;p28"/>
          <p:cNvCxnSpPr>
            <a:stCxn xmlns:a="http://schemas.openxmlformats.org/drawingml/2006/main" id="200" idx="3"/>
          </p:cNvCxnSpPr>
          <p:nvPr/>
        </p:nvCxnSpPr>
        <p:spPr>
          <a:xfrm xmlns:a="http://schemas.openxmlformats.org/drawingml/2006/main">
            <a:off x="2283600" y="3329000"/>
            <a:ext cx="823500" cy="291900"/>
          </a:xfrm>
          <a:prstGeom xmlns:a="http://schemas.openxmlformats.org/drawingml/2006/main" prst="curvedConnector3">
            <a:avLst>
              <a:gd name="adj1" fmla="val 50000"/>
            </a:avLst>
          </a:prstGeom>
          <a:ln xmlns:a="http://schemas.openxmlformats.org/drawingml/2006/main" w="9525" cap="flat">
            <a:solidFill>
              <a:srgbClr val="00B2A9"/>
            </a:solidFill>
            <a:prstDash val="dot"/>
            <a:round/>
            <a:headEnd type="none" w="med" len="med"/>
            <a:tailEnd type="none" w="med" len="med"/>
          </a:ln>
        </p:spPr>
      </p:cxnSp>
      <p:sp>
        <p:nvSpPr>
          <p:cNvPr id="201" name="Google Shape;201;p28">
            <a:extLst xmlns:a="http://schemas.openxmlformats.org/drawingml/2006/main">
              <a:ext uri="{FF2B5EF4-FFF2-40B4-BE49-F238E27FC236}">
                <a16:creationId xmlns:a16="http://schemas.microsoft.com/office/drawing/2014/main" id="{1EA2A572-126E-4023-9AEE-8F74757DA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550" y="2380300"/>
            <a:ext cx="2098200" cy="55165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chemeClr val="lt1"/>
                </a:solidFill>
                <a:latin typeface="Roboto"/>
                <a:ea typeface="Roboto"/>
                <a:cs typeface="Roboto"/>
              </a:rPr>
              <a:t>Start with a shared evidence base</a:t>
            </a:r>
            <a:endParaRPr sz="700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93" name="Google Shape;202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38ec7685b84e9f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425566" y="2487049"/>
            <a:ext cx="135000" cy="169403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203" name="Google Shape;203;p28">
            <a:extLst xmlns:a="http://schemas.openxmlformats.org/drawingml/2006/main">
              <a:ext uri="{FF2B5EF4-FFF2-40B4-BE49-F238E27FC236}">
                <a16:creationId xmlns:a16="http://schemas.microsoft.com/office/drawing/2014/main" id="{56E5D595-45C4-4CEE-8853-EDC7A99A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649" y="4429700"/>
            <a:ext cx="2007000" cy="323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t">
            <a:spAutoFit/>
          </a:bodyPr>
          <a:lstStyle xmlns:a="http://schemas.openxmlformats.org/drawingml/2006/main"/>
          <a:p xmlns:a="http://schemas.openxmlformats.org/drawingml/2006/main"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 b="1">
              <a:solidFill>
                <a:schemeClr val="lt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200" name="Google Shape;200;p28">
            <a:extLst xmlns:a="http://schemas.openxmlformats.org/drawingml/2006/main">
              <a:ext uri="{FF2B5EF4-FFF2-40B4-BE49-F238E27FC236}">
                <a16:creationId xmlns:a16="http://schemas.microsoft.com/office/drawing/2014/main" id="{81B29718-B0DF-4AAD-86B0-A9C56F280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800" y="2886650"/>
            <a:ext cx="1549800" cy="8847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36801" lvl="0" indent="-14355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sz="9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Graph-derived
features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sp>
        <p:nvSpPr>
          <p:cNvPr id="198" name="Google Shape;198;p28">
            <a:extLst xmlns:a="http://schemas.openxmlformats.org/drawingml/2006/main">
              <a:ext uri="{FF2B5EF4-FFF2-40B4-BE49-F238E27FC236}">
                <a16:creationId xmlns:a16="http://schemas.microsoft.com/office/drawing/2014/main" id="{767E648D-4C6D-4F4B-9411-F57983B41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75" y="3904550"/>
            <a:ext cx="1549800" cy="6786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txBody>
          <a:bodyPr xmlns:a="http://schemas.openxmlformats.org/drawingml/2006/main" spcFirstLastPara="1" wrap="square" lIns="91425" tIns="91425" rIns="91425" bIns="91425" anchor="ctr">
            <a:noAutofit/>
          </a:bodyPr>
          <a:lstStyle xmlns:a="http://schemas.openxmlformats.org/drawingml/2006/main"/>
          <a:p xmlns:a="http://schemas.openxmlformats.org/drawingml/2006/main">
            <a:pPr marL="136801" lvl="0" indent="-14355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Roboto"/>
              <a:buChar char="-"/>
            </a:pPr>
            <a:r>
              <a:rPr sz="900">
                <a:solidFill>
                  <a:schemeClr val="dk1"/>
                </a:solidFill>
                <a:latin typeface="Roboto"/>
                <a:ea typeface="Roboto"/>
                <a:cs typeface="Roboto"/>
              </a:rPr>
              <a:t>Business and
scientist filters</a:t>
            </a:r>
            <a:endParaRPr sz="900">
              <a:solidFill>
                <a:schemeClr val="dk1"/>
              </a:solidFill>
              <a:latin typeface="Roboto"/>
              <a:ea typeface="Roboto"/>
              <a:cs typeface="Roboto"/>
            </a:endParaRPr>
          </a:p>
        </p:txBody>
      </p:sp>
      <p:pic>
        <p:nvPicPr>
          <p:cNvPr id="297" name="Google Shape;204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e78044b511482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550" y="3088450"/>
            <a:ext cx="213350" cy="21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8" name="Google Shape;205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f66f8b6aa4e4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550" y="3340325"/>
            <a:ext cx="213350" cy="21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299" name="Google Shape;206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a82000d2288461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9550" y="4138850"/>
            <a:ext cx="213350" cy="213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pic>
        <p:nvPicPr>
          <p:cNvPr id="300" name="Google Shape;207;p2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288c15ed2949b2">
            <a:alphaModFix/>
          </a:blip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392408" y="2886300"/>
            <a:ext cx="2292901" cy="17087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</p:spTree>
    <p:extLst>
      <p:ext uri="{BB962C8B-B14F-4D97-AF65-F5344CB8AC3E}">
        <p14:creationId xmlns:p14="http://schemas.microsoft.com/office/powerpoint/2010/main" val="1809554210"/>
      </p:ext>
    </p:extLst>
  </p:cSld>
</p:sld>
</file>

<file path=ppt/theme/theme1.xml><?xml version="1.0" encoding="utf-8"?>
<a:theme xmlns:a="http://schemas.openxmlformats.org/drawingml/2006/main" name="Dataiku Company Template 2026">
  <a:themeElements>
    <a:clrScheme name="Simple Light">
      <a:dk1>
        <a:srgbClr val="1A1A1A"/>
      </a:dk1>
      <a:lt1>
        <a:srgbClr val="FFFFFF"/>
      </a:lt1>
      <a:dk2>
        <a:srgbClr val="3EDAB2"/>
      </a:dk2>
      <a:lt2>
        <a:srgbClr val="06312E"/>
      </a:lt2>
      <a:accent1>
        <a:srgbClr val="F8F4E4"/>
      </a:accent1>
      <a:accent2>
        <a:srgbClr val="C7FFF1"/>
      </a:accent2>
      <a:accent3>
        <a:srgbClr val="7092F2"/>
      </a:accent3>
      <a:accent4>
        <a:srgbClr val="EDAB4F"/>
      </a:accent4>
      <a:accent5>
        <a:srgbClr val="C6D4FA"/>
      </a:accent5>
      <a:accent6>
        <a:srgbClr val="F8DDB9"/>
      </a:accent6>
      <a:hlink>
        <a:srgbClr val="3EDA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imple Light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2026-08-24T15:52:41.0520000Z</dcterms:created>
  <dcterms:modified xsi:type="dcterms:W3CDTF">2026-08-24T15:52:41.0520000Z</dcterms:modified>
</coreProperties>
</file>